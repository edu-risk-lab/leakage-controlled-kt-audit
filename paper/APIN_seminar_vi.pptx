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mọi người. Hôm nay tôi trình bày công trình gửi tạp chí Applied Intelligence. Điều tôi mong mọi người nhớ ngay từ đầu là: đây không phải một mô hình KT mới, mà là một quy trình rà soát rò rỉ, giúp trả lời câu hỏi 'lợi ích mà đồ thị mang lại cho mô hình có thật sự đáng tin hay không'. Tôi sẽ giới thiệu nhanh nhóm tác giả rồi đi vào nội dung chính.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nói đi qua tám phần, từ bối cảnh và vấn đề, sang đóng góp và phương pháp, rồi đến kết quả và góc nhìn triển khai. Nếu phải chọn hai phần để theo dõi kỹ nhất, đó là luật hai yếu tố ở slide 11 và kết quả tác hại có điều kiện ở slide 12 — những phần còn lại đều xoay quanh hai ý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phần mở đầu, tôi muốn làm rõ một điều dễ bị bỏ qua: bản thân việc xây dựng đồ thị cũng là một con đường làm rò rỉ dữ liệu. Cộng đồng đã rất cẩn thận chống rò rỉ khi chia dữ liệu theo chuỗi trả lời, nhưng lại vô tình để hở đúng con đường đi qua đồ thị.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hết xin nhắc nhanh nền tảng. Knowledge Tracing ước lượng xem người học đã nắm vững từng khái niệm đến đâu. Lĩnh vực này phát triển từ các mô hình cổ điển, đến mô hình chuỗi sâu, và gần đây là mô hình tăng cường bằng đồ thị — loại lan truyền thông tin giữa các khái niệm qua một đồ thị. Điểm mấu chốt nằm ở dòng chữ màu đỏ: đồ thị đó thường được dựng từ chính bộ dữ liệu dùng để huấn luyện và đánh giá, nên câu hỏi tự nhiên đặt ra là lợi ích thu được là thật, hay chỉ do cách dựng đồ thị tạo 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cơ chế bằng lời đơn giản. Đồ thị khái niệm được dựng từ dữ liệu: mỗi cạnh nối hai khái niệm mạnh hay yếu tùy theo số lần người học đi từ khái niệm này sang khái niệm kia. Nếu ta dựng đồ thị từ TOÀN BỘ dữ liệu (gồm cả phần test) rồi mới chia train/test, thì dấu vết của phần test đã nằm sẵn trong các cạnh — mô hình 'nhìn' được phần test một cách gián tiếp qua đồ thị, dù khi huấn luyện nó chỉ dùng phần train. Ví dụ cho thấy vì sao khái niệm hiếm (cold-start) nguy hiểm nhất: giả sử có 20 lượt của tập test bị lọt vào. Với một khái niệm phổ biến, cạnh vốn đã có 40 lượt từ train nên 20 lượt lọt chỉ chiếm 33% — ảnh hưởng nhỏ. Nhưng với một khái niệm hiếm chỉ có 4 lượt train, thì 20 lượt lọt chiếm tới 83% — gần như toàn bộ 'bằng chứng' của cạnh đó đến từ dữ liệu test. Càng ít dữ liệu train thì rò rỉ càng chi phối mạnh. Chốt lại: chỉ nhìn AUC (độ chính xác) thì phát hiện quá muộn — đến lúc AUC lệch thì rò rỉ đã xảy ra rồi. Vì vậy phải đo trực tiếp 'có bao nhiêu thông tin test lọt vào đồ thị' — đó chính là chỉ số throughput.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chuyển sang phần đóng góp. Tôi xin nhắc lại thông điệp xuyên suốt: đóng góp của chúng tôi là một quy trình rà soát rò rỉ, chứ không phải một mô hình mới.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tôi có năm đóng góp. Thứ nhất là cách dựng đồ thị chỉ từ dữ liệu huấn luyện và ghi lại xuất xứ của từng cạnh. Thứ hai là bộ chỉ số chẩn đoán rò rỉ theo nhiều tầng. Thứ ba là chỉ số DDR, đo mức đồ thị bị phá vỡ cấu trúc. Thứ tư là cách báo cáo kết quả tách riêng theo mức độ hiếm của khái niệm. Và thứ năm là phép đối chiếu đồ thị suy từ hành vi với đồ thị do chuyên gia biên soạn. Tất cả hợp lại thành một lớp hỗ trợ ra quyết định và chấm điểm rủi 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tôi đi sâu vào ba khối chính của phương pháp: kiểm soát rò rỉ, chỉ số DDR, và phép đối chiếu với chân trị của chuyên gia.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bước kiểm soát rò rỉ, chúng tôi chia dữ liệu theo người học và theo thời gian, chỉ suy ra các cạnh từ phần huấn luyện, và ghi lại xuất xứ của từng cạnh. Có ba tầng chỉ số để soi rò rỉ: builder mass và TBMR đo lượng thông tin lọt vào; ECR-flag kiểm tra xem các nhóm người học có thật sự tách biệt không; còn ECR-overlap đo mức nhiễm ở vùng khái niệm hiếm. Điều đáng lưu ý là ECR-flag có thể bằng 0 — nghĩa là nhìn thì có vẻ 'sạch' — nhưng lượng thông tin lọt vào vẫn cao, nên chỉ chia dữ liệu cẩn thận thôi là chưa đủ.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số DDR đo mức một phép tăng cường làm phá vỡ đồ thị tiên quyết, khi cùng một 'liều' can thiệp. Nhìn vào biểu đồ: khi tăng liều can thiệp, phép bảo toàn tiên quyết ở đường thấp hơn gây hư hại ít hơn hẳn so với việc xóa cạnh ngẫu nhiên. Đây chính là căn cứ để chọn phép tăng cường một cách có nguyên tắc, thay vì chọn tùy tiện.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có hai ý. Thứ nhất, phải báo cáo độ chính xác tách riêng theo từng nhóm khái niệm phân theo tần suất, bởi nhóm khái niệm rất hiếm có quá ít mẫu nên con số dao động mạnh, dễ gây hiểu nhầm. Thứ hai, khi đối chiếu đồ thị suy từ hành vi người học với đồ thị do chuyên gia biên soạn, chúng khớp nhau ở mức từng khái niệm nhưng lại lệch nhau ở mức từng cạnh — nghĩa là không thể lấy suy luận từ hành vi để thay cho tri thức chuyên gia.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precision–recall cho thấy đồ thị suy từ hành vi tìm lại được khá nhiều cạnh của chuyên gia, tốt hơn hẳn mức ngẫu nhiên, nhưng vẫn không trùng khớp hoàn toàn. Vì vậy nên xem hai nguồn là bổ sung cho nhau, và đưa cả hai vào mô hình như hai loại quan hệ riêng biệt.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quan trọng nhất của bài: trả lời câu hỏi khi nào rò rỉ qua đồ thị mới thực sự gây hại, thông qua điều mà chúng tôi gọi là luật hai yếu tố.</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dữ liệu và thiết lập: XES3G5M là bộ chính để so sánh mô hình, còn ASSISTments và Junyi đóng vai trò bổ trợ, cộng thêm hai bộ mô phỏng. Về mô hình, chúng tôi so sánh loại chỉ dùng chuỗi trả lời như simpleKT với loại phụ thuộc vào đồ thị như GKT và GIKT. Mọi thí nghiệm đều chạy trên thư viện pyKT, với cách chia dữ liệu tách biệt theo người học.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cốt lõi. Ý tưởng gốc là: rò rỉ chỉ gây hại khi đi trọn một chuỗi nhân quả — thông tin test trước hết phải lọt vào cạnh đồ thị, tức cần throughput cao, rồi sau đó phải được mô hình thật sự đọc, tức cần reliance cao. Chỉ cần một mắt xích bằng 0 thì tích bằng 0, nên tác hại là phép NHÂN chứ không phải phép cộng — đó là lý do ba trong bốn ô đều xấp xỉ 0. Trên các benchmark công khai, bộ lọc tần suất giữ throughput ở mức thấp nên AUC chỉ dịch dưới 0.003; nhưng khi chúng tôi chủ động bơm thêm 20% rò rỉ thì GKT tăng vọt 0.05, còn simpleKT gần như bất động. Kết luận: tác hại xấp xỉ throughput nhân reliance, nên phải đo throughput trực tiếp thay vì tin vào AUC.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tác hại có điều kiện. Trước khi kết luận rằng đồ thị mang lại lợi ích, ta phải làm một phép thử: cố tình phá đồ thị và xem độ chính xác có tụt không. Với GKT trên bộ XES3G5M, phá đồ thị làm mất 0.07 đến 0.09 điểm AUC — chứng tỏ mô hình thật sự dùng đồ thị, và đúng như dự đoán, chỉ số DDR bám rất sát mức tụt này, tương quan tới 0.97. Ngược lại, DGEKT và GKT trên ASSISTments gần như không đổi, dưới 0.002, nghĩa là đồ thị hầu như không được dùng. Điểm cần nhấn: hư hại về cấu trúc chỉ biến thành hư hại về dự đoán khi mô hình thật sự đọc đồ thị.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bộ XES3G5M, GKT kém simpleKT khoảng 0.041 điểm AUC, với khoảng tin cậy hẹp và rõ ràng. Ngay cả khi huấn luyện GKT lâu hơn, tới 30 epoch, khoảng cách cũng chỉ thu hẹp được khoảng 0.003 — tức không phải do thiếu thời gian huấn luyện. Thông điệp ở đây là: mô hình phụ thuộc vào đồ thị không đồng nghĩa với việc nó chính xác hơn; đôi khi còn ngược lại, khi mô hình chuỗi vốn đã đủ mạnh.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sang phần ứng dụng: có quy trình này rồi thì người triển khai nên làm khác đi điều gì trong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biến kết quả rà soát thành hành động cụ thể: mỗi tín hiệu đo được đều có một cách diễn giải và một việc nên làm tương ứng, hoàn toàn không phụ thuộc vào độ chính xác. Đây chính là phần giá trị ứng dụng mà một tạp chí như Applied Intelligence quan tâm.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thể gói lại thành bốn bước dễ nhớ. Một, dựng đồ thị sạch, chỉ từ dữ liệu huấn luyện. Hai, đọc chỉ số throughput — tức lượng thông tin lọt vào — thay vì chỉ nhìn độ chính xác. Ba, luôn làm phép thử phá đồ thị trước khi quy công cho đồ thị. Và bốn, ưu tiên phép tăng cường giữ được cấu trúc. Đây là thông điệp tôi mong mọi người mang về.</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Cuối cùng là phần thảo luận về hạn chế và các điểm chốt.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xin nói thẳng về hạn chế. Cạnh tương đồng phụ thuộc vào cách mã hóa kỹ năng, nên có bộ dữ liệu không dựng được. Hiệu ứng rò rỉ nhỏ trên các bộ công khai là vì bộ lọc của chúng tôi đã siết lượng thông tin lọt vào, chứ không phải vì rò rỉ vô hại. Và nhóm khái niệm rất hiếm có ít mẫu nên số liệu dao động. Về hướng phát triển, chúng tôi muốn tách rõ lợi ích của mô hình đồ thị thành ba thành phần, và kết hợp đồ thị suy từ hành vi với đồ thị chuyên gia.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chốt lại năm ý. Một, việc xây dựng đồ thị là một khâu thực nghiệm quan trọng, đồng thời cũng là một con đường rò rỉ, chứ không phải bước xử lý qua loa. Hai, tác hại chỉ xảy ra có điều kiện. Ba, nên đo trực tiếp lượng thông tin lọt vào thay vì trông chờ ở độ chính xác. Bốn, chỉ số DDR cùng phép bảo toàn tiên quyết cho ta một lựa chọn có nguyên tắc. Năm, sản phẩm cuối cùng là một lớp rà soát rò rỉ hỗ trợ ra quyết định. Đây là ý tôi muốn nhấn mạnh nhất.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cảm ơn mọi người và rất mong nhận được câu hỏi. Trên màn hình là email tác giả liên hệ và đường dẫn mã nguồn để ai quan tâm có thể tái lập kết quả.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82296"/>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05840"/>
            <a:ext cx="10607040" cy="548640"/>
          </a:xfrm>
          <a:prstGeom prst="rect">
            <a:avLst/>
          </a:prstGeom>
          <a:noFill/>
        </p:spPr>
        <p:txBody>
          <a:bodyPr wrap="square">
            <a:spAutoFit/>
          </a:bodyPr>
          <a:lstStyle/>
          <a:p>
            <a:r>
              <a:rPr sz="1400" b="1" i="0">
                <a:solidFill>
                  <a:srgbClr val="E07A2B"/>
                </a:solidFill>
                <a:latin typeface="Calibri"/>
              </a:rPr>
              <a:t>APPLIED INTELLIGENCE  •  SEMINAR NGHIÊN CỨU</a:t>
            </a:r>
          </a:p>
        </p:txBody>
      </p:sp>
      <p:sp>
        <p:nvSpPr>
          <p:cNvPr id="5" name="TextBox 4"/>
          <p:cNvSpPr txBox="1"/>
          <p:nvPr/>
        </p:nvSpPr>
        <p:spPr>
          <a:xfrm>
            <a:off x="822960" y="1554480"/>
            <a:ext cx="10698480" cy="2468880"/>
          </a:xfrm>
          <a:prstGeom prst="rect">
            <a:avLst/>
          </a:prstGeom>
          <a:noFill/>
        </p:spPr>
        <p:txBody>
          <a:bodyPr wrap="square">
            <a:spAutoFit/>
          </a:bodyPr>
          <a:lstStyle/>
          <a:p>
            <a:r>
              <a:rPr sz="3200" b="1" i="0">
                <a:solidFill>
                  <a:srgbClr val="FFFFFF"/>
                </a:solidFill>
                <a:latin typeface="Calibri"/>
              </a:rPr>
              <a:t>Quy trình kiểm soát rò rỉ khi xây dựng đồ thị khái niệm và chẩn đoán cold-start cho Knowledge Tracing</a:t>
            </a:r>
          </a:p>
        </p:txBody>
      </p:sp>
      <p:sp>
        <p:nvSpPr>
          <p:cNvPr id="6" name="TextBox 5"/>
          <p:cNvSpPr txBox="1"/>
          <p:nvPr/>
        </p:nvSpPr>
        <p:spPr>
          <a:xfrm>
            <a:off x="822960" y="4343400"/>
            <a:ext cx="10698480" cy="1280160"/>
          </a:xfrm>
          <a:prstGeom prst="rect">
            <a:avLst/>
          </a:prstGeom>
          <a:noFill/>
        </p:spPr>
        <p:txBody>
          <a:bodyPr wrap="square">
            <a:spAutoFit/>
          </a:bodyPr>
          <a:lstStyle/>
          <a:p>
            <a:r>
              <a:rPr sz="1500" b="0" i="0">
                <a:solidFill>
                  <a:srgbClr val="FFFFFF"/>
                </a:solidFill>
                <a:latin typeface="Calibri"/>
              </a:rPr>
              <a:t>Dao Minh Tuan, Nguyen Khanh Trinh, Nguyen Tien Duong, Ngo Quoc Khanh, </a:t>
            </a:r>
            <a:r>
              <a:rPr sz="1500" b="1" i="0">
                <a:solidFill>
                  <a:srgbClr val="E07A2B"/>
                </a:solidFill>
                <a:latin typeface="Calibri"/>
              </a:rPr>
              <a:t>Nguyen Van Hau</a:t>
            </a:r>
            <a:r>
              <a:rPr sz="1500" b="0" i="0">
                <a:solidFill>
                  <a:srgbClr val="FFFFFF"/>
                </a:solidFill>
                <a:latin typeface="Calibri"/>
              </a:rPr>
              <a:t> (tác giả liên hệ), Le Hoang Son</a:t>
            </a:r>
          </a:p>
          <a:p>
            <a:pPr>
              <a:spcBef>
                <a:spcPts val="600"/>
              </a:spcBef>
            </a:pPr>
            <a:r>
              <a:rPr sz="1300" b="0" i="0">
                <a:solidFill>
                  <a:srgbClr val="B9C6D8"/>
                </a:solidFill>
                <a:latin typeface="Calibri"/>
              </a:rPr>
              <a:t>Trường Đại học Sư phạm Kỹ thuật Hưng Yên  •  Đại học Quốc gia Hà Nội</a:t>
            </a:r>
          </a:p>
        </p:txBody>
      </p:sp>
      <p:sp>
        <p:nvSpPr>
          <p:cNvPr id="7" name="TextBox 6"/>
          <p:cNvSpPr txBox="1"/>
          <p:nvPr/>
        </p:nvSpPr>
        <p:spPr>
          <a:xfrm>
            <a:off x="822960" y="5943600"/>
            <a:ext cx="10698480" cy="548640"/>
          </a:xfrm>
          <a:prstGeom prst="rect">
            <a:avLst/>
          </a:prstGeom>
          <a:noFill/>
        </p:spPr>
        <p:txBody>
          <a:bodyPr wrap="square">
            <a:spAutoFit/>
          </a:bodyPr>
          <a:lstStyle/>
          <a:p>
            <a:r>
              <a:rPr sz="1400" b="0" i="1">
                <a:solidFill>
                  <a:srgbClr val="D8E0EC"/>
                </a:solidFill>
                <a:latin typeface="Calibri"/>
              </a:rPr>
              <a:t>Một quy trình rà soát rò rỉ — không phải một mô hình KT mới — giúp graph-enhanced KT trở nên đáng tin cậy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TỔNG QUAN</a:t>
            </a:r>
          </a:p>
          <a:p>
            <a:r>
              <a:rPr sz="2600" b="1" i="0">
                <a:solidFill>
                  <a:srgbClr val="FFFFFF"/>
                </a:solidFill>
                <a:latin typeface="Calibri"/>
              </a:rPr>
              <a:t>Nội dung trình bày</a:t>
            </a:r>
          </a:p>
        </p:txBody>
      </p:sp>
      <p:sp>
        <p:nvSpPr>
          <p:cNvPr id="5" name="TextBox 4"/>
          <p:cNvSpPr txBox="1"/>
          <p:nvPr/>
        </p:nvSpPr>
        <p:spPr>
          <a:xfrm>
            <a:off x="594360" y="146304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1. </a:t>
            </a:r>
            <a:r>
              <a:rPr sz="1700" b="0" i="0">
                <a:solidFill>
                  <a:srgbClr val="142A4A"/>
                </a:solidFill>
                <a:latin typeface="Calibri"/>
              </a:rPr>
              <a:t>Bối cảnh &amp; vấn đề: rò rỉ dữ liệu ẩn trong KT tăng cường bằng đồ thị</a:t>
            </a:r>
          </a:p>
          <a:p>
            <a:pPr>
              <a:spcBef>
                <a:spcPts val="0"/>
              </a:spcBef>
              <a:spcAft>
                <a:spcPts val="800"/>
              </a:spcAft>
            </a:pPr>
            <a:r>
              <a:rPr sz="1700" b="1" i="0">
                <a:solidFill>
                  <a:srgbClr val="E07A2B"/>
                </a:solidFill>
                <a:latin typeface="Calibri"/>
              </a:rPr>
              <a:t>▪ </a:t>
            </a:r>
            <a:r>
              <a:rPr sz="1700" b="1" i="0">
                <a:solidFill>
                  <a:srgbClr val="142A4A"/>
                </a:solidFill>
                <a:latin typeface="Calibri"/>
              </a:rPr>
              <a:t>2. </a:t>
            </a:r>
            <a:r>
              <a:rPr sz="1700" b="0" i="0">
                <a:solidFill>
                  <a:srgbClr val="142A4A"/>
                </a:solidFill>
                <a:latin typeface="Calibri"/>
              </a:rPr>
              <a:t>Vì sao đồ thị trở thành kênh đưa thông tin của tập test vào mô hình</a:t>
            </a:r>
          </a:p>
          <a:p>
            <a:pPr>
              <a:spcBef>
                <a:spcPts val="0"/>
              </a:spcBef>
              <a:spcAft>
                <a:spcPts val="800"/>
              </a:spcAft>
            </a:pPr>
            <a:r>
              <a:rPr sz="1700" b="1" i="0">
                <a:solidFill>
                  <a:srgbClr val="E07A2B"/>
                </a:solidFill>
                <a:latin typeface="Calibri"/>
              </a:rPr>
              <a:t>▪ </a:t>
            </a:r>
            <a:r>
              <a:rPr sz="1700" b="1" i="0">
                <a:solidFill>
                  <a:srgbClr val="142A4A"/>
                </a:solidFill>
                <a:latin typeface="Calibri"/>
              </a:rPr>
              <a:t>3. </a:t>
            </a:r>
            <a:r>
              <a:rPr sz="1700" b="0" i="0">
                <a:solidFill>
                  <a:srgbClr val="142A4A"/>
                </a:solidFill>
                <a:latin typeface="Calibri"/>
              </a:rPr>
              <a:t>Đóng góp: một quy trình rà soát rò rỉ gồm năm thành phần</a:t>
            </a:r>
          </a:p>
          <a:p>
            <a:pPr>
              <a:spcBef>
                <a:spcPts val="0"/>
              </a:spcBef>
              <a:spcAft>
                <a:spcPts val="800"/>
              </a:spcAft>
            </a:pPr>
            <a:r>
              <a:rPr sz="1700" b="1" i="0">
                <a:solidFill>
                  <a:srgbClr val="E07A2B"/>
                </a:solidFill>
                <a:latin typeface="Calibri"/>
              </a:rPr>
              <a:t>▪ </a:t>
            </a:r>
            <a:r>
              <a:rPr sz="1700" b="1" i="0">
                <a:solidFill>
                  <a:srgbClr val="142A4A"/>
                </a:solidFill>
                <a:latin typeface="Calibri"/>
              </a:rPr>
              <a:t>4. </a:t>
            </a:r>
            <a:r>
              <a:rPr sz="1700" b="0" i="0">
                <a:solidFill>
                  <a:srgbClr val="142A4A"/>
                </a:solidFill>
                <a:latin typeface="Calibri"/>
              </a:rPr>
              <a:t>Phương pháp: kiểm soát rò rỉ, kiểm tra DAG, DDR, cold-start, đối chiếu chuyên gia</a:t>
            </a:r>
          </a:p>
          <a:p>
            <a:pPr>
              <a:spcBef>
                <a:spcPts val="0"/>
              </a:spcBef>
              <a:spcAft>
                <a:spcPts val="800"/>
              </a:spcAft>
            </a:pPr>
            <a:r>
              <a:rPr sz="1700" b="1" i="0">
                <a:solidFill>
                  <a:srgbClr val="E07A2B"/>
                </a:solidFill>
                <a:latin typeface="Calibri"/>
              </a:rPr>
              <a:t>▪ </a:t>
            </a:r>
            <a:r>
              <a:rPr sz="1700" b="1" i="0">
                <a:solidFill>
                  <a:srgbClr val="142A4A"/>
                </a:solidFill>
                <a:latin typeface="Calibri"/>
              </a:rPr>
              <a:t>5. </a:t>
            </a:r>
            <a:r>
              <a:rPr sz="1700" b="0" i="0">
                <a:solidFill>
                  <a:srgbClr val="142A4A"/>
                </a:solidFill>
                <a:latin typeface="Calibri"/>
              </a:rPr>
              <a:t>Luật hai yếu tố: throughput × reliance</a:t>
            </a:r>
          </a:p>
          <a:p>
            <a:pPr>
              <a:spcBef>
                <a:spcPts val="0"/>
              </a:spcBef>
              <a:spcAft>
                <a:spcPts val="800"/>
              </a:spcAft>
            </a:pPr>
            <a:r>
              <a:rPr sz="1700" b="1" i="0">
                <a:solidFill>
                  <a:srgbClr val="E07A2B"/>
                </a:solidFill>
                <a:latin typeface="Calibri"/>
              </a:rPr>
              <a:t>▪ </a:t>
            </a:r>
            <a:r>
              <a:rPr sz="1700" b="1" i="0">
                <a:solidFill>
                  <a:srgbClr val="142A4A"/>
                </a:solidFill>
                <a:latin typeface="Calibri"/>
              </a:rPr>
              <a:t>6. </a:t>
            </a:r>
            <a:r>
              <a:rPr sz="1700" b="0" i="0">
                <a:solidFill>
                  <a:srgbClr val="142A4A"/>
                </a:solidFill>
                <a:latin typeface="Calibri"/>
              </a:rPr>
              <a:t>Kết quả: tác hại có điều kiện, thứ tự mô hình, khác biệt so với chuyên gia</a:t>
            </a:r>
          </a:p>
          <a:p>
            <a:pPr>
              <a:spcBef>
                <a:spcPts val="0"/>
              </a:spcBef>
              <a:spcAft>
                <a:spcPts val="800"/>
              </a:spcAft>
            </a:pPr>
            <a:r>
              <a:rPr sz="1700" b="1" i="0">
                <a:solidFill>
                  <a:srgbClr val="E07A2B"/>
                </a:solidFill>
                <a:latin typeface="Calibri"/>
              </a:rPr>
              <a:t>▪ </a:t>
            </a:r>
            <a:r>
              <a:rPr sz="1700" b="1" i="0">
                <a:solidFill>
                  <a:srgbClr val="142A4A"/>
                </a:solidFill>
                <a:latin typeface="Calibri"/>
              </a:rPr>
              <a:t>7. </a:t>
            </a:r>
            <a:r>
              <a:rPr sz="1700" b="0" i="0">
                <a:solidFill>
                  <a:srgbClr val="142A4A"/>
                </a:solidFill>
                <a:latin typeface="Calibri"/>
              </a:rPr>
              <a:t>Từ tín hiệu rà soát đến hành động triển khai</a:t>
            </a:r>
          </a:p>
          <a:p>
            <a:pPr>
              <a:spcBef>
                <a:spcPts val="0"/>
              </a:spcBef>
              <a:spcAft>
                <a:spcPts val="800"/>
              </a:spcAft>
            </a:pPr>
            <a:r>
              <a:rPr sz="1700" b="1" i="0">
                <a:solidFill>
                  <a:srgbClr val="E07A2B"/>
                </a:solidFill>
                <a:latin typeface="Calibri"/>
              </a:rPr>
              <a:t>▪ </a:t>
            </a:r>
            <a:r>
              <a:rPr sz="1700" b="1" i="0">
                <a:solidFill>
                  <a:srgbClr val="142A4A"/>
                </a:solidFill>
                <a:latin typeface="Calibri"/>
              </a:rPr>
              <a:t>8. </a:t>
            </a:r>
            <a:r>
              <a:rPr sz="1700" b="0" i="0">
                <a:solidFill>
                  <a:srgbClr val="142A4A"/>
                </a:solidFill>
                <a:latin typeface="Calibri"/>
              </a:rPr>
              <a:t>Hạn chế, hướng phát triển và điểm chốt</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1. Bối cảnh &amp; Vấn đề</a:t>
            </a:r>
          </a:p>
          <a:p>
            <a:r>
              <a:rPr sz="1800" b="0" i="0">
                <a:solidFill>
                  <a:srgbClr val="B9C6D8"/>
                </a:solidFill>
                <a:latin typeface="Calibri"/>
              </a:rPr>
              <a:t>Vì sao xây dựng đồ thị là một kênh rò rỉ dữ liệu thường bị bỏ qua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BỐI CẢNH</a:t>
            </a:r>
          </a:p>
          <a:p>
            <a:r>
              <a:rPr sz="2600" b="1" i="0">
                <a:solidFill>
                  <a:srgbClr val="FFFFFF"/>
                </a:solidFill>
                <a:latin typeface="Calibri"/>
              </a:rPr>
              <a:t>Knowledge Tracing và đồ thị khái niệm</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Là gì: </a:t>
            </a:r>
            <a:r>
              <a:rPr sz="1700" b="0" i="0">
                <a:solidFill>
                  <a:srgbClr val="142A4A"/>
                </a:solidFill>
                <a:latin typeface="Calibri"/>
              </a:rPr>
              <a:t>Knowledge Tracing (KT) ước lượng mức thành thạo các thành phần kiến thức (KC) của người học dựa trên lịch sử trả lời.</a:t>
            </a:r>
          </a:p>
          <a:p>
            <a:pPr lvl="1">
              <a:spcBef>
                <a:spcPts val="0"/>
              </a:spcBef>
              <a:spcAft>
                <a:spcPts val="800"/>
              </a:spcAft>
            </a:pPr>
            <a:r>
              <a:rPr sz="1500" b="0" i="0">
                <a:solidFill>
                  <a:srgbClr val="535963"/>
                </a:solidFill>
                <a:latin typeface="Calibri"/>
              </a:rPr>
              <a:t>– Ứng dụng: luyện tập thích nghi, hệ dạy học thông minh, gợi ý lộ trình học.</a:t>
            </a:r>
          </a:p>
          <a:p>
            <a:pPr>
              <a:spcBef>
                <a:spcPts val="0"/>
              </a:spcBef>
              <a:spcAft>
                <a:spcPts val="800"/>
              </a:spcAft>
            </a:pPr>
            <a:r>
              <a:rPr sz="1700" b="1" i="0">
                <a:solidFill>
                  <a:srgbClr val="E07A2B"/>
                </a:solidFill>
                <a:latin typeface="Calibri"/>
              </a:rPr>
              <a:t>▪ </a:t>
            </a:r>
            <a:r>
              <a:rPr sz="1700" b="1" i="0">
                <a:solidFill>
                  <a:srgbClr val="142A4A"/>
                </a:solidFill>
                <a:latin typeface="Calibri"/>
              </a:rPr>
              <a:t>Xu hướng: </a:t>
            </a:r>
            <a:r>
              <a:rPr sz="1700" b="0" i="0">
                <a:solidFill>
                  <a:srgbClr val="142A4A"/>
                </a:solidFill>
                <a:latin typeface="Calibri"/>
              </a:rPr>
              <a:t>từ BKT → mô hình chuỗi sâu (DKT, DKVMN, AKT, simpleKT) → mô hình tăng cường bằng đồ thị (GKT, GIKT, DGEKT).</a:t>
            </a:r>
          </a:p>
          <a:p>
            <a:pPr>
              <a:spcBef>
                <a:spcPts val="0"/>
              </a:spcBef>
              <a:spcAft>
                <a:spcPts val="800"/>
              </a:spcAft>
            </a:pPr>
            <a:r>
              <a:rPr sz="1700" b="1" i="0">
                <a:solidFill>
                  <a:srgbClr val="E07A2B"/>
                </a:solidFill>
                <a:latin typeface="Calibri"/>
              </a:rPr>
              <a:t>▪ </a:t>
            </a:r>
            <a:r>
              <a:rPr sz="1700" b="1" i="0">
                <a:solidFill>
                  <a:srgbClr val="142A4A"/>
                </a:solidFill>
                <a:latin typeface="Calibri"/>
              </a:rPr>
              <a:t>Vai trò đồ thị: </a:t>
            </a:r>
            <a:r>
              <a:rPr sz="1700" b="0" i="0">
                <a:solidFill>
                  <a:srgbClr val="142A4A"/>
                </a:solidFill>
                <a:latin typeface="Calibri"/>
              </a:rPr>
              <a:t>các mô hình này lan truyền thông tin trên đồ thị KC, mã hóa quan hệ tiên quyết hoặc tương đồng giữa các KC.</a:t>
            </a:r>
          </a:p>
          <a:p>
            <a:pPr lvl="1">
              <a:spcBef>
                <a:spcPts val="0"/>
              </a:spcBef>
              <a:spcAft>
                <a:spcPts val="800"/>
              </a:spcAft>
            </a:pPr>
            <a:r>
              <a:rPr sz="1500" b="0" i="0">
                <a:solidFill>
                  <a:srgbClr val="B03A2E"/>
                </a:solidFill>
                <a:latin typeface="Calibri"/>
              </a:rPr>
              <a:t>– đồ thị phụ trợ này thường được dựng từ CHÍNH bộ log dùng để huấn luyện và đánh giá.</a:t>
            </a:r>
          </a:p>
          <a:p>
            <a:pPr>
              <a:spcBef>
                <a:spcPts val="600"/>
              </a:spcBef>
              <a:spcAft>
                <a:spcPts val="800"/>
              </a:spcAft>
            </a:pPr>
            <a:r>
              <a:rPr sz="1700" b="1" i="0">
                <a:solidFill>
                  <a:srgbClr val="E07A2B"/>
                </a:solidFill>
                <a:latin typeface="Calibri"/>
              </a:rPr>
              <a:t>▪ </a:t>
            </a:r>
            <a:r>
              <a:rPr sz="1700" b="1" i="0">
                <a:solidFill>
                  <a:srgbClr val="1E3C66"/>
                </a:solidFill>
                <a:latin typeface="Calibri"/>
              </a:rPr>
              <a:t>Câu hỏi: </a:t>
            </a:r>
            <a:r>
              <a:rPr sz="1700" b="0" i="0">
                <a:solidFill>
                  <a:srgbClr val="1E3C66"/>
                </a:solidFill>
                <a:latin typeface="Calibri"/>
              </a:rPr>
              <a:t>lợi ích từ đồ thị là thật, hay chỉ là hệ quả của cách dựng đồ thị?</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VẤN ĐỀ</a:t>
            </a:r>
          </a:p>
          <a:p>
            <a:r>
              <a:rPr sz="2600" b="1" i="0">
                <a:solidFill>
                  <a:srgbClr val="FFFFFF"/>
                </a:solidFill>
                <a:latin typeface="Calibri"/>
              </a:rPr>
              <a:t>Kênh rò rỉ ẩn</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Cơ chế: </a:t>
            </a:r>
            <a:r>
              <a:rPr sz="1700" b="0" i="0">
                <a:solidFill>
                  <a:srgbClr val="142A4A"/>
                </a:solidFill>
                <a:latin typeface="Calibri"/>
              </a:rPr>
              <a:t>nếu gom cạnh TRƯỚC khi chia train/test, thông tin của tập test đi vào mô hình qua đồ thị — dù bộ tối ưu KT chỉ nhìn thấy fold huấn luyện.</a:t>
            </a:r>
          </a:p>
          <a:p>
            <a:pPr>
              <a:spcBef>
                <a:spcPts val="0"/>
              </a:spcBef>
              <a:spcAft>
                <a:spcPts val="800"/>
              </a:spcAft>
            </a:pPr>
            <a:r>
              <a:rPr sz="1700" b="0" i="0">
                <a:solidFill>
                  <a:srgbClr val="B03A2E"/>
                </a:solidFill>
                <a:latin typeface="Calibri"/>
              </a:rPr>
              <a:t>▪ Chia fold ở mức chuỗi là cần nhưng CHƯA ĐỦ: đồ thị là một kênh nhiễm dữ liệu độc lập.</a:t>
            </a:r>
          </a:p>
          <a:p>
            <a:pPr>
              <a:spcBef>
                <a:spcPts val="600"/>
              </a:spcBef>
              <a:spcAft>
                <a:spcPts val="800"/>
              </a:spcAft>
            </a:pPr>
            <a:r>
              <a:rPr sz="1700" b="1" i="0">
                <a:solidFill>
                  <a:srgbClr val="142A4A"/>
                </a:solidFill>
                <a:latin typeface="Calibri"/>
              </a:rPr>
              <a:t>Ví dụ về throughput (tỷ lệ nhiễm của một cạnh):</a:t>
            </a:r>
          </a:p>
          <a:p>
            <a:pPr lvl="1">
              <a:spcBef>
                <a:spcPts val="0"/>
              </a:spcBef>
              <a:spcAft>
                <a:spcPts val="800"/>
              </a:spcAft>
            </a:pPr>
            <a:r>
              <a:rPr sz="1500" b="0" i="0">
                <a:solidFill>
                  <a:srgbClr val="535963"/>
                </a:solidFill>
                <a:latin typeface="Calibri"/>
              </a:rPr>
              <a:t>– KC "nóng" (nhiều dữ liệu): 20 lượt rò làm support của cạnh tăng 40→60 → nhiễm 33%.</a:t>
            </a:r>
          </a:p>
          <a:p>
            <a:pPr lvl="1">
              <a:spcBef>
                <a:spcPts val="0"/>
              </a:spcBef>
              <a:spcAft>
                <a:spcPts val="800"/>
              </a:spcAft>
            </a:pPr>
            <a:r>
              <a:rPr sz="1500" b="0" i="0">
                <a:solidFill>
                  <a:srgbClr val="B03A2E"/>
                </a:solidFill>
                <a:latin typeface="Calibri"/>
              </a:rPr>
              <a:t>– KC "rất lạnh" (ít dữ liệu): cũng 20 lượt đó làm tăng 4→24 → nhiễm 83%.</a:t>
            </a:r>
          </a:p>
          <a:p>
            <a:pPr>
              <a:spcBef>
                <a:spcPts val="600"/>
              </a:spcBef>
              <a:spcAft>
                <a:spcPts val="800"/>
              </a:spcAft>
            </a:pPr>
            <a:r>
              <a:rPr sz="1700" b="1" i="0">
                <a:solidFill>
                  <a:srgbClr val="E07A2B"/>
                </a:solidFill>
                <a:latin typeface="Calibri"/>
              </a:rPr>
              <a:t>▪ </a:t>
            </a:r>
            <a:r>
              <a:rPr sz="1700" b="1" i="0">
                <a:solidFill>
                  <a:srgbClr val="1E3C66"/>
                </a:solidFill>
                <a:latin typeface="Calibri"/>
              </a:rPr>
              <a:t>Nhận định: </a:t>
            </a:r>
            <a:r>
              <a:rPr sz="1700" b="0" i="0">
                <a:solidFill>
                  <a:srgbClr val="1E3C66"/>
                </a:solidFill>
                <a:latin typeface="Calibri"/>
              </a:rPr>
              <a:t>mức nhiễm tỉ lệ NGHỊCH với tần suất của KC trong fold train — KC cold-start chính là điểm rò nguy hiểm nhất.</a:t>
            </a:r>
          </a:p>
          <a:p>
            <a:pPr>
              <a:spcBef>
                <a:spcPts val="0"/>
              </a:spcBef>
              <a:spcAft>
                <a:spcPts val="800"/>
              </a:spcAft>
            </a:pPr>
            <a:r>
              <a:rPr sz="1700" b="1" i="0">
                <a:solidFill>
                  <a:srgbClr val="E07A2B"/>
                </a:solidFill>
                <a:latin typeface="Calibri"/>
              </a:rPr>
              <a:t>▪ </a:t>
            </a:r>
            <a:r>
              <a:rPr sz="1700" b="1" i="0">
                <a:solidFill>
                  <a:srgbClr val="142A4A"/>
                </a:solidFill>
                <a:latin typeface="Calibri"/>
              </a:rPr>
              <a:t>Do đó: </a:t>
            </a:r>
            <a:r>
              <a:rPr sz="1700" b="0" i="0">
                <a:solidFill>
                  <a:srgbClr val="142A4A"/>
                </a:solidFill>
                <a:latin typeface="Calibri"/>
              </a:rPr>
              <a:t>AUC tổng hợp báo động quá muộn; cần đo kênh rò rỉ này một cách trực tiếp.</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2. Đóng góp</a:t>
            </a:r>
          </a:p>
          <a:p>
            <a:r>
              <a:rPr sz="1800" b="0" i="0">
                <a:solidFill>
                  <a:srgbClr val="B9C6D8"/>
                </a:solidFill>
                <a:latin typeface="Calibri"/>
              </a:rPr>
              <a:t>Một quy trình rà soát rò rỉ, không phải một mô hình mới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ĐÓNG GÓP</a:t>
            </a:r>
          </a:p>
          <a:p>
            <a:r>
              <a:rPr sz="2600" b="1" i="0">
                <a:solidFill>
                  <a:srgbClr val="FFFFFF"/>
                </a:solidFill>
                <a:latin typeface="Calibri"/>
              </a:rPr>
              <a:t>Năm đóng góp (C1–C5)</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C1  </a:t>
            </a:r>
            <a:r>
              <a:rPr sz="1700" b="0" i="0">
                <a:solidFill>
                  <a:srgbClr val="142A4A"/>
                </a:solidFill>
                <a:latin typeface="Calibri"/>
              </a:rPr>
              <a:t>Xây dựng có kiểm soát rò rỉ — chia dữ liệu theo người học &amp; thời gian; suy quan hệ tiên quyết/tương đồng chỉ từ fold train; ghi xuất xứ (provenance) từng cạnh.</a:t>
            </a:r>
          </a:p>
          <a:p>
            <a:pPr>
              <a:spcBef>
                <a:spcPts val="0"/>
              </a:spcBef>
              <a:spcAft>
                <a:spcPts val="800"/>
              </a:spcAft>
            </a:pPr>
            <a:r>
              <a:rPr sz="1700" b="1" i="0">
                <a:solidFill>
                  <a:srgbClr val="E07A2B"/>
                </a:solidFill>
                <a:latin typeface="Calibri"/>
              </a:rPr>
              <a:t>▪ </a:t>
            </a:r>
            <a:r>
              <a:rPr sz="1700" b="1" i="0">
                <a:solidFill>
                  <a:srgbClr val="142A4A"/>
                </a:solidFill>
                <a:latin typeface="Calibri"/>
              </a:rPr>
              <a:t>C2  </a:t>
            </a:r>
            <a:r>
              <a:rPr sz="1700" b="0" i="0">
                <a:solidFill>
                  <a:srgbClr val="142A4A"/>
                </a:solidFill>
                <a:latin typeface="Calibri"/>
              </a:rPr>
              <a:t>Chẩn đoán rò rỉ phân tầng — các chỉ số builder mass, TBMR, ECR-flag, ECR-overlap đo mức nhiễm độc lập với độ chính xác.</a:t>
            </a:r>
          </a:p>
          <a:p>
            <a:pPr>
              <a:spcBef>
                <a:spcPts val="0"/>
              </a:spcBef>
              <a:spcAft>
                <a:spcPts val="800"/>
              </a:spcAft>
            </a:pPr>
            <a:r>
              <a:rPr sz="1700" b="1" i="0">
                <a:solidFill>
                  <a:srgbClr val="E07A2B"/>
                </a:solidFill>
                <a:latin typeface="Calibri"/>
              </a:rPr>
              <a:t>▪ </a:t>
            </a:r>
            <a:r>
              <a:rPr sz="1700" b="1" i="0">
                <a:solidFill>
                  <a:srgbClr val="142A4A"/>
                </a:solidFill>
                <a:latin typeface="Calibri"/>
              </a:rPr>
              <a:t>C3  </a:t>
            </a:r>
            <a:r>
              <a:rPr sz="1700" b="0" i="0">
                <a:solidFill>
                  <a:srgbClr val="142A4A"/>
                </a:solidFill>
                <a:latin typeface="Calibri"/>
              </a:rPr>
              <a:t>Kiểm tra DAG và chỉ số DDR (DAG Disruption Rate) — thước đo cấu trúc giúp phân biệt các toán tử tăng cường (augmentation).</a:t>
            </a:r>
          </a:p>
          <a:p>
            <a:pPr>
              <a:spcBef>
                <a:spcPts val="0"/>
              </a:spcBef>
              <a:spcAft>
                <a:spcPts val="800"/>
              </a:spcAft>
            </a:pPr>
            <a:r>
              <a:rPr sz="1700" b="1" i="0">
                <a:solidFill>
                  <a:srgbClr val="E07A2B"/>
                </a:solidFill>
                <a:latin typeface="Calibri"/>
              </a:rPr>
              <a:t>▪ </a:t>
            </a:r>
            <a:r>
              <a:rPr sz="1700" b="1" i="0">
                <a:solidFill>
                  <a:srgbClr val="142A4A"/>
                </a:solidFill>
                <a:latin typeface="Calibri"/>
              </a:rPr>
              <a:t>C4  </a:t>
            </a:r>
            <a:r>
              <a:rPr sz="1700" b="0" i="0">
                <a:solidFill>
                  <a:srgbClr val="142A4A"/>
                </a:solidFill>
                <a:latin typeface="Calibri"/>
              </a:rPr>
              <a:t>Phân tầng cold-start — báo cáo kết quả theo tần suất KC, làm lộ nơi rò rỉ và bằng chứng yếu tập trung.</a:t>
            </a:r>
          </a:p>
          <a:p>
            <a:pPr>
              <a:spcBef>
                <a:spcPts val="0"/>
              </a:spcBef>
              <a:spcAft>
                <a:spcPts val="800"/>
              </a:spcAft>
            </a:pPr>
            <a:r>
              <a:rPr sz="1700" b="1" i="0">
                <a:solidFill>
                  <a:srgbClr val="E07A2B"/>
                </a:solidFill>
                <a:latin typeface="Calibri"/>
              </a:rPr>
              <a:t>▪ </a:t>
            </a:r>
            <a:r>
              <a:rPr sz="1700" b="1" i="0">
                <a:solidFill>
                  <a:srgbClr val="142A4A"/>
                </a:solidFill>
                <a:latin typeface="Calibri"/>
              </a:rPr>
              <a:t>C5  </a:t>
            </a:r>
            <a:r>
              <a:rPr sz="1700" b="0" i="0">
                <a:solidFill>
                  <a:srgbClr val="142A4A"/>
                </a:solidFill>
                <a:latin typeface="Calibri"/>
              </a:rPr>
              <a:t>Đối chiếu với "chân trị" (ground-truth) — so đồ thị suy từ hành vi với chú giải tiên quyết của chuyên gia.</a:t>
            </a:r>
          </a:p>
          <a:p>
            <a:pPr>
              <a:spcBef>
                <a:spcPts val="800"/>
              </a:spcBef>
              <a:spcAft>
                <a:spcPts val="800"/>
              </a:spcAft>
            </a:pPr>
            <a:r>
              <a:rPr sz="1700" b="1" i="0">
                <a:solidFill>
                  <a:srgbClr val="E07A2B"/>
                </a:solidFill>
                <a:latin typeface="Calibri"/>
              </a:rPr>
              <a:t>▪ </a:t>
            </a:r>
            <a:r>
              <a:rPr sz="1700" b="1" i="0">
                <a:solidFill>
                  <a:srgbClr val="1E3C66"/>
                </a:solidFill>
                <a:latin typeface="Calibri"/>
              </a:rPr>
              <a:t>Định vị: </a:t>
            </a:r>
            <a:r>
              <a:rPr sz="1700" b="0" i="0">
                <a:solidFill>
                  <a:srgbClr val="1E3C66"/>
                </a:solidFill>
                <a:latin typeface="Calibri"/>
              </a:rPr>
              <a:t>một lớp hỗ trợ quyết định và chấm điểm rủi ro rò rỉ — không nhằm tăng độ chính xác.</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3. Quy trình rà soát rò rỉ</a:t>
            </a:r>
          </a:p>
          <a:p>
            <a:r>
              <a:rPr sz="1800" b="0" i="0">
                <a:solidFill>
                  <a:srgbClr val="B9C6D8"/>
                </a:solidFill>
                <a:latin typeface="Calibri"/>
              </a:rPr>
              <a:t>Xây dựng → Chẩn đoán → Đối chiếu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PHƯƠNG PHÁP — C1/C2</a:t>
            </a:r>
          </a:p>
          <a:p>
            <a:r>
              <a:rPr sz="2600" b="1" i="0">
                <a:solidFill>
                  <a:srgbClr val="FFFFFF"/>
                </a:solidFill>
                <a:latin typeface="Calibri"/>
              </a:rPr>
              <a:t>Kiểm soát rò rỉ &amp; xuất xứ (provenance)</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Chỉ dùng train: </a:t>
            </a:r>
            <a:r>
              <a:rPr sz="1700" b="0" i="0">
                <a:solidFill>
                  <a:srgbClr val="142A4A"/>
                </a:solidFill>
                <a:latin typeface="Calibri"/>
              </a:rPr>
              <a:t>chia theo người học và thời gian; suy cạnh chỉ từ fold huấn luyện (F_train), không dùng log đã gom.</a:t>
            </a:r>
          </a:p>
          <a:p>
            <a:pPr>
              <a:spcBef>
                <a:spcPts val="0"/>
              </a:spcBef>
              <a:spcAft>
                <a:spcPts val="800"/>
              </a:spcAft>
            </a:pPr>
            <a:r>
              <a:rPr sz="1700" b="1" i="0">
                <a:solidFill>
                  <a:srgbClr val="E07A2B"/>
                </a:solidFill>
                <a:latin typeface="Calibri"/>
              </a:rPr>
              <a:t>▪ </a:t>
            </a:r>
            <a:r>
              <a:rPr sz="1700" b="1" i="0">
                <a:solidFill>
                  <a:srgbClr val="142A4A"/>
                </a:solidFill>
                <a:latin typeface="Calibri"/>
              </a:rPr>
              <a:t>Xuất xứ: </a:t>
            </a:r>
            <a:r>
              <a:rPr sz="1700" b="0" i="0">
                <a:solidFill>
                  <a:srgbClr val="142A4A"/>
                </a:solidFill>
                <a:latin typeface="Calibri"/>
              </a:rPr>
              <a:t>ghi xuất xứ theo từng fold cho mọi cạnh được giữ lại → tái lập được và so sánh được giữa các bài báo.</a:t>
            </a:r>
          </a:p>
          <a:p>
            <a:pPr>
              <a:spcBef>
                <a:spcPts val="600"/>
              </a:spcBef>
              <a:spcAft>
                <a:spcPts val="800"/>
              </a:spcAft>
            </a:pPr>
            <a:r>
              <a:rPr sz="1700" b="1" i="0">
                <a:solidFill>
                  <a:srgbClr val="142A4A"/>
                </a:solidFill>
                <a:latin typeface="Calibri"/>
              </a:rPr>
              <a:t>Ba tầng chẩn đoán rò rỉ:</a:t>
            </a:r>
          </a:p>
          <a:p>
            <a:pPr lvl="1">
              <a:spcBef>
                <a:spcPts val="0"/>
              </a:spcBef>
              <a:spcAft>
                <a:spcPts val="800"/>
              </a:spcAft>
            </a:pPr>
            <a:r>
              <a:rPr sz="1500" b="0" i="0">
                <a:solidFill>
                  <a:srgbClr val="535963"/>
                </a:solidFill>
                <a:latin typeface="Calibri"/>
              </a:rPr>
              <a:t>– Builder mass / TBMR — đo mức trộn thời gian trong tập train và throughput.</a:t>
            </a:r>
          </a:p>
          <a:p>
            <a:pPr lvl="1">
              <a:spcBef>
                <a:spcPts val="0"/>
              </a:spcBef>
              <a:spcAft>
                <a:spcPts val="800"/>
              </a:spcAft>
            </a:pPr>
            <a:r>
              <a:rPr sz="1500" b="0" i="0">
                <a:solidFill>
                  <a:srgbClr val="535963"/>
                </a:solidFill>
                <a:latin typeface="Calibri"/>
              </a:rPr>
              <a:t>– ECR-flag — kiểm tra tính tách biệt người học (có thể bằng 0 dù throughput cao).</a:t>
            </a:r>
          </a:p>
          <a:p>
            <a:pPr lvl="1">
              <a:spcBef>
                <a:spcPts val="0"/>
              </a:spcBef>
              <a:spcAft>
                <a:spcPts val="800"/>
              </a:spcAft>
            </a:pPr>
            <a:r>
              <a:rPr sz="1500" b="0" i="0">
                <a:solidFill>
                  <a:srgbClr val="535963"/>
                </a:solidFill>
                <a:latin typeface="Calibri"/>
              </a:rPr>
              <a:t>– ECR-overlap — đo mức nhiễm ở vùng lân cận các KC cold-start.</a:t>
            </a:r>
          </a:p>
          <a:p>
            <a:pPr>
              <a:spcBef>
                <a:spcPts val="600"/>
              </a:spcBef>
              <a:spcAft>
                <a:spcPts val="800"/>
              </a:spcAft>
            </a:pPr>
            <a:r>
              <a:rPr sz="1700" b="1" i="0">
                <a:solidFill>
                  <a:srgbClr val="E07A2B"/>
                </a:solidFill>
                <a:latin typeface="Calibri"/>
              </a:rPr>
              <a:t>▪ </a:t>
            </a:r>
            <a:r>
              <a:rPr sz="1700" b="1" i="0">
                <a:solidFill>
                  <a:srgbClr val="B03A2E"/>
                </a:solidFill>
                <a:latin typeface="Calibri"/>
              </a:rPr>
              <a:t>Bài học: </a:t>
            </a:r>
            <a:r>
              <a:rPr sz="1700" b="0" i="0">
                <a:solidFill>
                  <a:srgbClr val="B03A2E"/>
                </a:solidFill>
                <a:latin typeface="Calibri"/>
              </a:rPr>
              <a:t>chỉ chia fold tách biệt là chưa đủ; một chỉ số rò rỉ đơn lẻ có thể che giấu dịch chuyển do throughput gây ra.</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PHƯƠNG PHÁP — C3</a:t>
            </a:r>
          </a:p>
          <a:p>
            <a:r>
              <a:rPr sz="2600" b="1" i="0">
                <a:solidFill>
                  <a:srgbClr val="FFFFFF"/>
                </a:solidFill>
                <a:latin typeface="Calibri"/>
              </a:rPr>
              <a:t>DDR: DAG Disruption Rate</a:t>
            </a:r>
          </a:p>
        </p:txBody>
      </p:sp>
      <p:pic>
        <p:nvPicPr>
          <p:cNvPr id="5" name="Picture 4" descr="fig_ddr_junyi.png"/>
          <p:cNvPicPr>
            <a:picLocks noChangeAspect="1"/>
          </p:cNvPicPr>
          <p:nvPr/>
        </p:nvPicPr>
        <p:blipFill>
          <a:blip r:embed="rId2"/>
          <a:stretch>
            <a:fillRect/>
          </a:stretch>
        </p:blipFill>
        <p:spPr>
          <a:xfrm>
            <a:off x="457200" y="1463040"/>
            <a:ext cx="6126480" cy="4084320"/>
          </a:xfrm>
          <a:prstGeom prst="rect">
            <a:avLst/>
          </a:prstGeom>
        </p:spPr>
      </p:pic>
      <p:sp>
        <p:nvSpPr>
          <p:cNvPr id="6" name="TextBox 5"/>
          <p:cNvSpPr txBox="1"/>
          <p:nvPr/>
        </p:nvSpPr>
        <p:spPr>
          <a:xfrm>
            <a:off x="6949440" y="1554480"/>
            <a:ext cx="4937760" cy="4572000"/>
          </a:xfrm>
          <a:prstGeom prst="rect">
            <a:avLst/>
          </a:prstGeom>
          <a:noFill/>
        </p:spPr>
        <p:txBody>
          <a:bodyPr wrap="square">
            <a:spAutoFit/>
          </a:bodyPr>
          <a:lstStyle/>
          <a:p>
            <a:pPr>
              <a:spcBef>
                <a:spcPts val="0"/>
              </a:spcBef>
              <a:spcAft>
                <a:spcPts val="800"/>
              </a:spcAft>
            </a:pPr>
            <a:r>
              <a:rPr sz="1500" b="1" i="0">
                <a:solidFill>
                  <a:srgbClr val="E07A2B"/>
                </a:solidFill>
                <a:latin typeface="Calibri"/>
              </a:rPr>
              <a:t>▪ </a:t>
            </a:r>
            <a:r>
              <a:rPr sz="1500" b="1" i="0">
                <a:solidFill>
                  <a:srgbClr val="142A4A"/>
                </a:solidFill>
                <a:latin typeface="Calibri"/>
              </a:rPr>
              <a:t>Ý tưởng: </a:t>
            </a:r>
            <a:r>
              <a:rPr sz="1500" b="0" i="0">
                <a:solidFill>
                  <a:srgbClr val="142A4A"/>
                </a:solidFill>
                <a:latin typeface="Calibri"/>
              </a:rPr>
              <a:t>DDR đo mức một toán tử tăng cường phá vỡ DAG tiên quyết, tại cùng một "ngân sách" nhiễu.</a:t>
            </a:r>
          </a:p>
          <a:p>
            <a:pPr>
              <a:spcBef>
                <a:spcPts val="0"/>
              </a:spcBef>
              <a:spcAft>
                <a:spcPts val="800"/>
              </a:spcAft>
            </a:pPr>
            <a:r>
              <a:rPr sz="1500" b="1" i="0">
                <a:solidFill>
                  <a:srgbClr val="E07A2B"/>
                </a:solidFill>
                <a:latin typeface="Calibri"/>
              </a:rPr>
              <a:t>▪ </a:t>
            </a:r>
            <a:r>
              <a:rPr sz="1500" b="1" i="0">
                <a:solidFill>
                  <a:srgbClr val="142A4A"/>
                </a:solidFill>
                <a:latin typeface="Calibri"/>
              </a:rPr>
              <a:t>Phạm vi thử: </a:t>
            </a:r>
            <a:r>
              <a:rPr sz="1500" b="0" i="0">
                <a:solidFill>
                  <a:srgbClr val="142A4A"/>
                </a:solidFill>
                <a:latin typeface="Calibri"/>
              </a:rPr>
              <a:t>quét 5 toán tử (xóa cạnh, xóa nút, …, bảo toàn tiên quyết).</a:t>
            </a:r>
          </a:p>
          <a:p>
            <a:pPr>
              <a:spcBef>
                <a:spcPts val="0"/>
              </a:spcBef>
              <a:spcAft>
                <a:spcPts val="800"/>
              </a:spcAft>
            </a:pPr>
            <a:r>
              <a:rPr sz="1500" b="1" i="0">
                <a:solidFill>
                  <a:srgbClr val="E07A2B"/>
                </a:solidFill>
                <a:latin typeface="Calibri"/>
              </a:rPr>
              <a:t>▪ </a:t>
            </a:r>
            <a:r>
              <a:rPr sz="1500" b="1" i="0">
                <a:solidFill>
                  <a:srgbClr val="2E7D32"/>
                </a:solidFill>
                <a:latin typeface="Calibri"/>
              </a:rPr>
              <a:t>Kết quả: </a:t>
            </a:r>
            <a:r>
              <a:rPr sz="1500" b="0" i="0">
                <a:solidFill>
                  <a:srgbClr val="2E7D32"/>
                </a:solidFill>
                <a:latin typeface="Calibri"/>
              </a:rPr>
              <a:t>toán tử bảo toàn tiên quyết (giữ khung xương của DAG) phá vỡ ít hơn hẳn so với xóa cạnh, ở cùng ngân sách.</a:t>
            </a:r>
          </a:p>
          <a:p>
            <a:pPr>
              <a:spcBef>
                <a:spcPts val="0"/>
              </a:spcBef>
              <a:spcAft>
                <a:spcPts val="800"/>
              </a:spcAft>
            </a:pPr>
            <a:r>
              <a:rPr sz="1500" b="1" i="0">
                <a:solidFill>
                  <a:srgbClr val="E07A2B"/>
                </a:solidFill>
                <a:latin typeface="Calibri"/>
              </a:rPr>
              <a:t>▪ </a:t>
            </a:r>
            <a:r>
              <a:rPr sz="1500" b="1" i="0">
                <a:solidFill>
                  <a:srgbClr val="142A4A"/>
                </a:solidFill>
                <a:latin typeface="Calibri"/>
              </a:rPr>
              <a:t>Ứng dụng: </a:t>
            </a:r>
            <a:r>
              <a:rPr sz="1500" b="0" i="0">
                <a:solidFill>
                  <a:srgbClr val="142A4A"/>
                </a:solidFill>
                <a:latin typeface="Calibri"/>
              </a:rPr>
              <a:t>DDR dùng được cho mọi đồ thị lộ trình học có hướng.</a:t>
            </a:r>
          </a:p>
        </p:txBody>
      </p:sp>
      <p:sp>
        <p:nvSpPr>
          <p:cNvPr id="7" name="TextBox 6"/>
          <p:cNvSpPr txBox="1"/>
          <p:nvPr/>
        </p:nvSpPr>
        <p:spPr>
          <a:xfrm>
            <a:off x="457200" y="6126480"/>
            <a:ext cx="6217920" cy="365760"/>
          </a:xfrm>
          <a:prstGeom prst="rect">
            <a:avLst/>
          </a:prstGeom>
          <a:noFill/>
        </p:spPr>
        <p:txBody>
          <a:bodyPr wrap="square">
            <a:spAutoFit/>
          </a:bodyPr>
          <a:lstStyle/>
          <a:p>
            <a:r>
              <a:rPr sz="1100" b="0" i="1">
                <a:solidFill>
                  <a:srgbClr val="535963"/>
                </a:solidFill>
                <a:latin typeface="Calibri"/>
              </a:rPr>
              <a:t>DDR theo mức nhiễu tăng dần (Junyi).</a:t>
            </a:r>
          </a:p>
        </p:txBody>
      </p:sp>
      <p:sp>
        <p:nvSpPr>
          <p:cNvPr id="8" name="TextBox 7"/>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9" name="TextBox 8"/>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PHƯƠNG PHÁP — C4/C5</a:t>
            </a:r>
          </a:p>
          <a:p>
            <a:r>
              <a:rPr sz="2600" b="1" i="0">
                <a:solidFill>
                  <a:srgbClr val="FFFFFF"/>
                </a:solidFill>
                <a:latin typeface="Calibri"/>
              </a:rPr>
              <a:t>Cold-start &amp; đối chiếu chân trị</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142A4A"/>
                </a:solidFill>
                <a:latin typeface="Calibri"/>
              </a:rPr>
              <a:t>Phân tầng cold-start (C4):</a:t>
            </a:r>
          </a:p>
          <a:p>
            <a:pPr lvl="1">
              <a:spcBef>
                <a:spcPts val="0"/>
              </a:spcBef>
              <a:spcAft>
                <a:spcPts val="800"/>
              </a:spcAft>
            </a:pPr>
            <a:r>
              <a:rPr sz="1500" b="0" i="0">
                <a:solidFill>
                  <a:srgbClr val="535963"/>
                </a:solidFill>
                <a:latin typeface="Calibri"/>
              </a:rPr>
              <a:t>– Báo cáo chỉ số theo từng tầng tần suất KC (từ rất lạnh đến nóng).</a:t>
            </a:r>
          </a:p>
          <a:p>
            <a:pPr lvl="1">
              <a:spcBef>
                <a:spcPts val="0"/>
              </a:spcBef>
              <a:spcAft>
                <a:spcPts val="800"/>
              </a:spcAft>
            </a:pPr>
            <a:r>
              <a:rPr sz="1500" b="0" i="0">
                <a:solidFill>
                  <a:srgbClr val="535963"/>
                </a:solidFill>
                <a:latin typeface="Calibri"/>
              </a:rPr>
              <a:t>– AUC tổng hợp che đi hành vi ở tầng nhỏ; số KC rất lạnh ít (n = 19–161) nên phương sai cao — cần đọc kèm n.</a:t>
            </a:r>
          </a:p>
          <a:p>
            <a:pPr>
              <a:spcBef>
                <a:spcPts val="600"/>
              </a:spcBef>
              <a:spcAft>
                <a:spcPts val="800"/>
              </a:spcAft>
            </a:pPr>
            <a:r>
              <a:rPr sz="1700" b="1" i="0">
                <a:solidFill>
                  <a:srgbClr val="142A4A"/>
                </a:solidFill>
                <a:latin typeface="Calibri"/>
              </a:rPr>
              <a:t>Đối chiếu chân trị (C5):</a:t>
            </a:r>
          </a:p>
          <a:p>
            <a:pPr lvl="1">
              <a:spcBef>
                <a:spcPts val="0"/>
              </a:spcBef>
              <a:spcAft>
                <a:spcPts val="800"/>
              </a:spcAft>
            </a:pPr>
            <a:r>
              <a:rPr sz="1500" b="0" i="0">
                <a:solidFill>
                  <a:srgbClr val="535963"/>
                </a:solidFill>
                <a:latin typeface="Calibri"/>
              </a:rPr>
              <a:t>– so đồ thị suy từ hành vi (chỉ từ train) với chú giải tiên quyết của chuyên gia trên Junyi.</a:t>
            </a:r>
          </a:p>
          <a:p>
            <a:pPr lvl="1">
              <a:spcBef>
                <a:spcPts val="0"/>
              </a:spcBef>
              <a:spcAft>
                <a:spcPts val="800"/>
              </a:spcAft>
            </a:pPr>
            <a:r>
              <a:rPr sz="1500" b="0" i="0">
                <a:solidFill>
                  <a:srgbClr val="B03A2E"/>
                </a:solidFill>
                <a:latin typeface="Calibri"/>
              </a:rPr>
              <a:t>– đồng thuận ở mức nút nhưng KHÁC BIỆT ở mức cạnh — suy luận từ hành vi KHÔNG thể thay cho chuyên gia.</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PHƯƠNG PHÁP — C5</a:t>
            </a:r>
          </a:p>
          <a:p>
            <a:r>
              <a:rPr sz="2600" b="1" i="0">
                <a:solidFill>
                  <a:srgbClr val="FFFFFF"/>
                </a:solidFill>
                <a:latin typeface="Calibri"/>
              </a:rPr>
              <a:t>Đối chiếu chân trị trên Junyi</a:t>
            </a:r>
          </a:p>
        </p:txBody>
      </p:sp>
      <p:pic>
        <p:nvPicPr>
          <p:cNvPr id="5" name="Picture 4" descr="fig_pr_curve.png"/>
          <p:cNvPicPr>
            <a:picLocks noChangeAspect="1"/>
          </p:cNvPicPr>
          <p:nvPr/>
        </p:nvPicPr>
        <p:blipFill>
          <a:blip r:embed="rId2"/>
          <a:stretch>
            <a:fillRect/>
          </a:stretch>
        </p:blipFill>
        <p:spPr>
          <a:xfrm>
            <a:off x="457200" y="1463040"/>
            <a:ext cx="6126480" cy="4084320"/>
          </a:xfrm>
          <a:prstGeom prst="rect">
            <a:avLst/>
          </a:prstGeom>
        </p:spPr>
      </p:pic>
      <p:sp>
        <p:nvSpPr>
          <p:cNvPr id="6" name="TextBox 5"/>
          <p:cNvSpPr txBox="1"/>
          <p:nvPr/>
        </p:nvSpPr>
        <p:spPr>
          <a:xfrm>
            <a:off x="6949440" y="1554480"/>
            <a:ext cx="4937760" cy="4572000"/>
          </a:xfrm>
          <a:prstGeom prst="rect">
            <a:avLst/>
          </a:prstGeom>
          <a:noFill/>
        </p:spPr>
        <p:txBody>
          <a:bodyPr wrap="square">
            <a:spAutoFit/>
          </a:bodyPr>
          <a:lstStyle/>
          <a:p>
            <a:pPr>
              <a:spcBef>
                <a:spcPts val="0"/>
              </a:spcBef>
              <a:spcAft>
                <a:spcPts val="800"/>
              </a:spcAft>
            </a:pPr>
            <a:r>
              <a:rPr sz="1500" b="1" i="0">
                <a:solidFill>
                  <a:srgbClr val="E07A2B"/>
                </a:solidFill>
                <a:latin typeface="Calibri"/>
              </a:rPr>
              <a:t>▪ </a:t>
            </a:r>
            <a:r>
              <a:rPr sz="1500" b="1" i="0">
                <a:solidFill>
                  <a:srgbClr val="142A4A"/>
                </a:solidFill>
                <a:latin typeface="Calibri"/>
              </a:rPr>
              <a:t>Tín hiệu: </a:t>
            </a:r>
            <a:r>
              <a:rPr sz="1500" b="0" i="0">
                <a:solidFill>
                  <a:srgbClr val="142A4A"/>
                </a:solidFill>
                <a:latin typeface="Calibri"/>
              </a:rPr>
              <a:t>đồ thị suy từ hành vi khôi phục được cạnh tiên quyết của chuyên gia tốt hơn ngẫu nhiên nhiều…</a:t>
            </a:r>
          </a:p>
          <a:p>
            <a:pPr>
              <a:spcBef>
                <a:spcPts val="0"/>
              </a:spcBef>
              <a:spcAft>
                <a:spcPts val="800"/>
              </a:spcAft>
            </a:pPr>
            <a:r>
              <a:rPr sz="1500" b="1" i="0">
                <a:solidFill>
                  <a:srgbClr val="E07A2B"/>
                </a:solidFill>
                <a:latin typeface="Calibri"/>
              </a:rPr>
              <a:t>▪ </a:t>
            </a:r>
            <a:r>
              <a:rPr sz="1500" b="1" i="0">
                <a:solidFill>
                  <a:srgbClr val="142A4A"/>
                </a:solidFill>
                <a:latin typeface="Calibri"/>
              </a:rPr>
              <a:t>Sắc thái: </a:t>
            </a:r>
            <a:r>
              <a:rPr sz="1500" b="0" i="0">
                <a:solidFill>
                  <a:srgbClr val="142A4A"/>
                </a:solidFill>
                <a:latin typeface="Calibri"/>
              </a:rPr>
              <a:t>…nhưng hai nguồn khác biệt ở mức cạnh, nên xem là BỔ SUNG cho nhau chứ không thay thế nhau.</a:t>
            </a:r>
          </a:p>
          <a:p>
            <a:pPr>
              <a:spcBef>
                <a:spcPts val="0"/>
              </a:spcBef>
              <a:spcAft>
                <a:spcPts val="800"/>
              </a:spcAft>
            </a:pPr>
            <a:r>
              <a:rPr sz="1500" b="1" i="0">
                <a:solidFill>
                  <a:srgbClr val="E07A2B"/>
                </a:solidFill>
                <a:latin typeface="Calibri"/>
              </a:rPr>
              <a:t>▪ </a:t>
            </a:r>
            <a:r>
              <a:rPr sz="1500" b="1" i="0">
                <a:solidFill>
                  <a:srgbClr val="1E3C66"/>
                </a:solidFill>
                <a:latin typeface="Calibri"/>
              </a:rPr>
              <a:t>Ý nghĩa: </a:t>
            </a:r>
            <a:r>
              <a:rPr sz="1500" b="0" i="0">
                <a:solidFill>
                  <a:srgbClr val="1E3C66"/>
                </a:solidFill>
                <a:latin typeface="Calibri"/>
              </a:rPr>
              <a:t>nên đưa cả đồ thị hành vi và đồ thị chuyên gia vào như hai quan hệ riêng.</a:t>
            </a:r>
          </a:p>
        </p:txBody>
      </p:sp>
      <p:sp>
        <p:nvSpPr>
          <p:cNvPr id="7" name="TextBox 6"/>
          <p:cNvSpPr txBox="1"/>
          <p:nvPr/>
        </p:nvSpPr>
        <p:spPr>
          <a:xfrm>
            <a:off x="457200" y="6126480"/>
            <a:ext cx="6217920" cy="365760"/>
          </a:xfrm>
          <a:prstGeom prst="rect">
            <a:avLst/>
          </a:prstGeom>
          <a:noFill/>
        </p:spPr>
        <p:txBody>
          <a:bodyPr wrap="square">
            <a:spAutoFit/>
          </a:bodyPr>
          <a:lstStyle/>
          <a:p>
            <a:r>
              <a:rPr sz="1100" b="0" i="1">
                <a:solidFill>
                  <a:srgbClr val="535963"/>
                </a:solidFill>
                <a:latin typeface="Calibri"/>
              </a:rPr>
              <a:t>Đường precision–recall: cạnh suy luận so với cạnh chuyên gia.</a:t>
            </a:r>
          </a:p>
        </p:txBody>
      </p:sp>
      <p:sp>
        <p:nvSpPr>
          <p:cNvPr id="8" name="TextBox 7"/>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9" name="TextBox 8"/>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4. Luật hai yếu tố &amp; Kết quả</a:t>
            </a:r>
          </a:p>
          <a:p>
            <a:r>
              <a:rPr sz="1800" b="0" i="0">
                <a:solidFill>
                  <a:srgbClr val="B9C6D8"/>
                </a:solidFill>
                <a:latin typeface="Calibri"/>
              </a:rPr>
              <a:t>Khi nào rò rỉ qua đồ thị mới thực sự gây hại?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THIẾT LẬP</a:t>
            </a:r>
          </a:p>
          <a:p>
            <a:r>
              <a:rPr sz="2600" b="1" i="0">
                <a:solidFill>
                  <a:srgbClr val="FFFFFF"/>
                </a:solidFill>
                <a:latin typeface="Calibri"/>
              </a:rPr>
              <a:t>Dữ liệu &amp; thiết lập thực nghiệm</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Chính: </a:t>
            </a:r>
            <a:r>
              <a:rPr sz="1700" b="0" i="0">
                <a:solidFill>
                  <a:srgbClr val="142A4A"/>
                </a:solidFill>
                <a:latin typeface="Calibri"/>
              </a:rPr>
              <a:t>XES3G5M — benchmark chính để so sánh mô hình (dữ liệu dày, nhiều chuyển tiếp).</a:t>
            </a:r>
          </a:p>
          <a:p>
            <a:pPr>
              <a:spcBef>
                <a:spcPts val="0"/>
              </a:spcBef>
              <a:spcAft>
                <a:spcPts val="800"/>
              </a:spcAft>
            </a:pPr>
            <a:r>
              <a:rPr sz="1700" b="1" i="0">
                <a:solidFill>
                  <a:srgbClr val="E07A2B"/>
                </a:solidFill>
                <a:latin typeface="Calibri"/>
              </a:rPr>
              <a:t>▪ </a:t>
            </a:r>
            <a:r>
              <a:rPr sz="1700" b="1" i="0">
                <a:solidFill>
                  <a:srgbClr val="142A4A"/>
                </a:solidFill>
                <a:latin typeface="Calibri"/>
              </a:rPr>
              <a:t>Phụ: </a:t>
            </a:r>
            <a:r>
              <a:rPr sz="1700" b="0" i="0">
                <a:solidFill>
                  <a:srgbClr val="142A4A"/>
                </a:solidFill>
                <a:latin typeface="Calibri"/>
              </a:rPr>
              <a:t>ASSISTments 2012 — Q-matrix đơn kỹ năng nên không dựng được cạnh tương đồng.</a:t>
            </a:r>
          </a:p>
          <a:p>
            <a:pPr>
              <a:spcBef>
                <a:spcPts val="0"/>
              </a:spcBef>
              <a:spcAft>
                <a:spcPts val="800"/>
              </a:spcAft>
            </a:pPr>
            <a:r>
              <a:rPr sz="1700" b="1" i="0">
                <a:solidFill>
                  <a:srgbClr val="E07A2B"/>
                </a:solidFill>
                <a:latin typeface="Calibri"/>
              </a:rPr>
              <a:t>▪ </a:t>
            </a:r>
            <a:r>
              <a:rPr sz="1700" b="1" i="0">
                <a:solidFill>
                  <a:srgbClr val="142A4A"/>
                </a:solidFill>
                <a:latin typeface="Calibri"/>
              </a:rPr>
              <a:t>Đối chiếu: </a:t>
            </a:r>
            <a:r>
              <a:rPr sz="1700" b="0" i="0">
                <a:solidFill>
                  <a:srgbClr val="142A4A"/>
                </a:solidFill>
                <a:latin typeface="Calibri"/>
              </a:rPr>
              <a:t>Junyi Academy — kiểm tra bão hòa và đối chiếu chân trị.</a:t>
            </a:r>
          </a:p>
          <a:p>
            <a:pPr>
              <a:spcBef>
                <a:spcPts val="0"/>
              </a:spcBef>
              <a:spcAft>
                <a:spcPts val="800"/>
              </a:spcAft>
            </a:pPr>
            <a:r>
              <a:rPr sz="1700" b="1" i="0">
                <a:solidFill>
                  <a:srgbClr val="E07A2B"/>
                </a:solidFill>
                <a:latin typeface="Calibri"/>
              </a:rPr>
              <a:t>▪ </a:t>
            </a:r>
            <a:r>
              <a:rPr sz="1700" b="1" i="0">
                <a:solidFill>
                  <a:srgbClr val="142A4A"/>
                </a:solidFill>
                <a:latin typeface="Calibri"/>
              </a:rPr>
              <a:t>Tổng hợp: </a:t>
            </a:r>
            <a:r>
              <a:rPr sz="1700" b="0" i="0">
                <a:solidFill>
                  <a:srgbClr val="142A4A"/>
                </a:solidFill>
                <a:latin typeface="Calibri"/>
              </a:rPr>
              <a:t>hai bộ dữ liệu mô phỏng với cấu trúc khái niệm được kiểm soát.</a:t>
            </a:r>
          </a:p>
          <a:p>
            <a:pPr>
              <a:spcBef>
                <a:spcPts val="600"/>
              </a:spcBef>
              <a:spcAft>
                <a:spcPts val="800"/>
              </a:spcAft>
            </a:pPr>
            <a:r>
              <a:rPr sz="1700" b="1" i="0">
                <a:solidFill>
                  <a:srgbClr val="E07A2B"/>
                </a:solidFill>
                <a:latin typeface="Calibri"/>
              </a:rPr>
              <a:t>▪ </a:t>
            </a:r>
            <a:r>
              <a:rPr sz="1700" b="1" i="0">
                <a:solidFill>
                  <a:srgbClr val="142A4A"/>
                </a:solidFill>
                <a:latin typeface="Calibri"/>
              </a:rPr>
              <a:t>Mô hình: </a:t>
            </a:r>
            <a:r>
              <a:rPr sz="1700" b="0" i="0">
                <a:solidFill>
                  <a:srgbClr val="142A4A"/>
                </a:solidFill>
                <a:latin typeface="Calibri"/>
              </a:rPr>
              <a:t>simpleKT/AKT (chỉ dùng chuỗi), GKT &amp; GIKT (phụ thuộc đồ thị), DGEKT; chạy trên pyKT, fold tách người học, xuất đồ thị chỉ-từ-train.</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KẾT QUẢ CHÍNH</a:t>
            </a:r>
          </a:p>
          <a:p>
            <a:r>
              <a:rPr sz="2600" b="1" i="0">
                <a:solidFill>
                  <a:srgbClr val="FFFFFF"/>
                </a:solidFill>
                <a:latin typeface="Calibri"/>
              </a:rPr>
              <a:t>Luật hai yếu tố: throughput × reliance</a:t>
            </a:r>
          </a:p>
        </p:txBody>
      </p:sp>
      <p:sp>
        <p:nvSpPr>
          <p:cNvPr id="5" name="TextBox 4"/>
          <p:cNvSpPr txBox="1"/>
          <p:nvPr/>
        </p:nvSpPr>
        <p:spPr>
          <a:xfrm>
            <a:off x="594360" y="1280160"/>
            <a:ext cx="10972800" cy="658368"/>
          </a:xfrm>
          <a:prstGeom prst="rect">
            <a:avLst/>
          </a:prstGeom>
          <a:noFill/>
        </p:spPr>
        <p:txBody>
          <a:bodyPr wrap="square">
            <a:spAutoFit/>
          </a:bodyPr>
          <a:lstStyle/>
          <a:p>
            <a:r>
              <a:rPr sz="1500" b="0" i="0">
                <a:solidFill>
                  <a:srgbClr val="142A4A"/>
                </a:solidFill>
                <a:latin typeface="Calibri"/>
              </a:rPr>
              <a:t>Rò rỉ qua đồ thị chỉ làm dịch AUC khi CẢ HAI yếu tố cùng cao — throughput (mức nhiễm) và reliance (mức phụ thuộc đồ thị). Ba trong bốn ô đều ≈ 0.</a:t>
            </a:r>
          </a:p>
        </p:txBody>
      </p:sp>
      <p:graphicFrame>
        <p:nvGraphicFramePr>
          <p:cNvPr id="6" name="Table 5"/>
          <p:cNvGraphicFramePr>
            <a:graphicFrameLocks noGrp="1"/>
          </p:cNvGraphicFramePr>
          <p:nvPr/>
        </p:nvGraphicFramePr>
        <p:xfrm>
          <a:off x="777240" y="2103120"/>
          <a:ext cx="10607040" cy="3200400"/>
        </p:xfrm>
        <a:graphic>
          <a:graphicData uri="http://schemas.openxmlformats.org/drawingml/2006/table">
            <a:tbl>
              <a:tblPr firstRow="1" bandRow="1">
                <a:tableStyleId>{5C22544A-7EE6-4342-B048-85BDC9FD1C3A}</a:tableStyleId>
              </a:tblPr>
              <a:tblGrid>
                <a:gridCol w="3291840"/>
                <a:gridCol w="3657600"/>
                <a:gridCol w="3657600"/>
              </a:tblGrid>
              <a:tr h="1066800">
                <a:tc>
                  <a:txBody>
                    <a:bodyPr/>
                    <a:lstStyle/>
                    <a:p>
                      <a:pPr algn="ctr"/>
                      <a:r>
                        <a:rPr sz="1500" b="1">
                          <a:solidFill>
                            <a:srgbClr val="FFFFFF"/>
                          </a:solidFill>
                          <a:latin typeface="Calibri"/>
                        </a:rPr>
                        <a:t/>
                      </a:r>
                    </a:p>
                  </a:txBody>
                  <a:tcPr anchor="ctr">
                    <a:solidFill>
                      <a:srgbClr val="142A4A"/>
                    </a:solidFill>
                  </a:tcPr>
                </a:tc>
                <a:tc>
                  <a:txBody>
                    <a:bodyPr/>
                    <a:lstStyle/>
                    <a:p>
                      <a:pPr algn="ctr"/>
                      <a:r>
                        <a:rPr sz="1500" b="1">
                          <a:solidFill>
                            <a:srgbClr val="FFFFFF"/>
                          </a:solidFill>
                          <a:latin typeface="Calibri"/>
                        </a:rPr>
                        <a:t>Reliance thấp (simpleKT)</a:t>
                      </a:r>
                    </a:p>
                  </a:txBody>
                  <a:tcPr anchor="ctr">
                    <a:solidFill>
                      <a:srgbClr val="142A4A"/>
                    </a:solidFill>
                  </a:tcPr>
                </a:tc>
                <a:tc>
                  <a:txBody>
                    <a:bodyPr/>
                    <a:lstStyle/>
                    <a:p>
                      <a:pPr algn="ctr"/>
                      <a:r>
                        <a:rPr sz="1500" b="1">
                          <a:solidFill>
                            <a:srgbClr val="FFFFFF"/>
                          </a:solidFill>
                          <a:latin typeface="Calibri"/>
                        </a:rPr>
                        <a:t>Reliance cao (GKT, GIKT)</a:t>
                      </a:r>
                    </a:p>
                  </a:txBody>
                  <a:tcPr anchor="ctr">
                    <a:solidFill>
                      <a:srgbClr val="142A4A"/>
                    </a:solidFill>
                  </a:tcPr>
                </a:tc>
              </a:tr>
              <a:tr h="1066800">
                <a:tc>
                  <a:txBody>
                    <a:bodyPr/>
                    <a:lstStyle/>
                    <a:p>
                      <a:pPr algn="l"/>
                      <a:r>
                        <a:rPr sz="1500" b="1">
                          <a:solidFill>
                            <a:srgbClr val="FFFFFF"/>
                          </a:solidFill>
                          <a:latin typeface="Calibri"/>
                        </a:rPr>
                        <a:t>Throughput thấp</a:t>
                      </a:r>
                    </a:p>
                    <a:p>
                      <a:r>
                        <a:t>(train-only vs. full-log)</a:t>
                      </a:r>
                    </a:p>
                  </a:txBody>
                  <a:tcPr anchor="ctr">
                    <a:solidFill>
                      <a:srgbClr val="142A4A"/>
                    </a:solidFill>
                  </a:tcPr>
                </a:tc>
                <a:tc>
                  <a:txBody>
                    <a:bodyPr/>
                    <a:lstStyle/>
                    <a:p>
                      <a:pPr algn="ctr"/>
                      <a:r>
                        <a:rPr sz="1500">
                          <a:solidFill>
                            <a:srgbClr val="535963"/>
                          </a:solidFill>
                          <a:latin typeface="Calibri"/>
                        </a:rPr>
                        <a:t>≈ 0</a:t>
                      </a:r>
                    </a:p>
                  </a:txBody>
                  <a:tcPr anchor="ctr">
                    <a:solidFill>
                      <a:srgbClr val="F2F5F9"/>
                    </a:solidFill>
                  </a:tcPr>
                </a:tc>
                <a:tc>
                  <a:txBody>
                    <a:bodyPr/>
                    <a:lstStyle/>
                    <a:p>
                      <a:pPr algn="ctr"/>
                      <a:r>
                        <a:rPr sz="1500">
                          <a:solidFill>
                            <a:srgbClr val="535963"/>
                          </a:solidFill>
                          <a:latin typeface="Calibri"/>
                        </a:rPr>
                        <a:t>≤ 0.003  (ablation full-log)</a:t>
                      </a:r>
                    </a:p>
                  </a:txBody>
                  <a:tcPr anchor="ctr">
                    <a:solidFill>
                      <a:srgbClr val="F2F5F9"/>
                    </a:solidFill>
                  </a:tcPr>
                </a:tc>
              </a:tr>
              <a:tr h="1066800">
                <a:tc>
                  <a:txBody>
                    <a:bodyPr/>
                    <a:lstStyle/>
                    <a:p>
                      <a:pPr algn="l"/>
                      <a:r>
                        <a:rPr sz="1500" b="1">
                          <a:solidFill>
                            <a:srgbClr val="FFFFFF"/>
                          </a:solidFill>
                          <a:latin typeface="Calibri"/>
                        </a:rPr>
                        <a:t>Throughput cao</a:t>
                      </a:r>
                    </a:p>
                    <a:p>
                      <a:r>
                        <a:t>(inject 20% test-fold)</a:t>
                      </a:r>
                    </a:p>
                  </a:txBody>
                  <a:tcPr anchor="ctr">
                    <a:solidFill>
                      <a:srgbClr val="142A4A"/>
                    </a:solidFill>
                  </a:tcPr>
                </a:tc>
                <a:tc>
                  <a:txBody>
                    <a:bodyPr/>
                    <a:lstStyle/>
                    <a:p>
                      <a:pPr algn="ctr"/>
                      <a:r>
                        <a:rPr sz="1500">
                          <a:solidFill>
                            <a:srgbClr val="535963"/>
                          </a:solidFill>
                          <a:latin typeface="Calibri"/>
                        </a:rPr>
                        <a:t>≈ 0  (0.850→0.858)</a:t>
                      </a:r>
                    </a:p>
                  </a:txBody>
                  <a:tcPr anchor="ctr">
                    <a:solidFill>
                      <a:srgbClr val="F2F5F9"/>
                    </a:solidFill>
                  </a:tcPr>
                </a:tc>
                <a:tc>
                  <a:txBody>
                    <a:bodyPr/>
                    <a:lstStyle/>
                    <a:p>
                      <a:pPr algn="ctr"/>
                      <a:r>
                        <a:rPr sz="1500" b="1">
                          <a:solidFill>
                            <a:srgbClr val="B03A2E"/>
                          </a:solidFill>
                          <a:latin typeface="Calibri"/>
                        </a:rPr>
                        <a:t>+0.05 GKT, +0.03 GIKT</a:t>
                      </a:r>
                    </a:p>
                  </a:txBody>
                  <a:tcPr anchor="ctr">
                    <a:solidFill>
                      <a:srgbClr val="F7D9C4"/>
                    </a:solidFill>
                  </a:tcPr>
                </a:tc>
              </a:tr>
            </a:tbl>
          </a:graphicData>
        </a:graphic>
      </p:graphicFrame>
      <p:sp>
        <p:nvSpPr>
          <p:cNvPr id="7" name="TextBox 6"/>
          <p:cNvSpPr txBox="1"/>
          <p:nvPr/>
        </p:nvSpPr>
        <p:spPr>
          <a:xfrm>
            <a:off x="777240" y="5577840"/>
            <a:ext cx="10698480" cy="731520"/>
          </a:xfrm>
          <a:prstGeom prst="rect">
            <a:avLst/>
          </a:prstGeom>
          <a:noFill/>
        </p:spPr>
        <p:txBody>
          <a:bodyPr wrap="square">
            <a:spAutoFit/>
          </a:bodyPr>
          <a:lstStyle/>
          <a:p>
            <a:r>
              <a:rPr sz="1500" b="1" i="0">
                <a:solidFill>
                  <a:srgbClr val="E07A2B"/>
                </a:solidFill>
                <a:latin typeface="Calibri"/>
              </a:rPr>
              <a:t>Điểm chốt: </a:t>
            </a:r>
            <a:r>
              <a:rPr sz="1500" b="0" i="0">
                <a:solidFill>
                  <a:srgbClr val="142A4A"/>
                </a:solidFill>
                <a:latin typeface="Calibri"/>
              </a:rPr>
              <a:t>tác hại ≈ throughput × reliance. AUC im lặng ở 3/4 vùng, nên phải đo throughput một cách trực tiếp.</a:t>
            </a:r>
          </a:p>
        </p:txBody>
      </p:sp>
      <p:sp>
        <p:nvSpPr>
          <p:cNvPr id="8" name="TextBox 7"/>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9" name="TextBox 8"/>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KẾT QUẢ</a:t>
            </a:r>
          </a:p>
          <a:p>
            <a:r>
              <a:rPr sz="2600" b="1" i="0">
                <a:solidFill>
                  <a:srgbClr val="FFFFFF"/>
                </a:solidFill>
                <a:latin typeface="Calibri"/>
              </a:rPr>
              <a:t>Tác hại có điều kiện: phép thử phá đồ thị</a:t>
            </a:r>
          </a:p>
        </p:txBody>
      </p:sp>
      <p:pic>
        <p:nvPicPr>
          <p:cNvPr id="5" name="Picture 4" descr="fig_ddr_downstream.png"/>
          <p:cNvPicPr>
            <a:picLocks noChangeAspect="1"/>
          </p:cNvPicPr>
          <p:nvPr/>
        </p:nvPicPr>
        <p:blipFill>
          <a:blip r:embed="rId2"/>
          <a:stretch>
            <a:fillRect/>
          </a:stretch>
        </p:blipFill>
        <p:spPr>
          <a:xfrm>
            <a:off x="457200" y="1463040"/>
            <a:ext cx="6126480" cy="3971828"/>
          </a:xfrm>
          <a:prstGeom prst="rect">
            <a:avLst/>
          </a:prstGeom>
        </p:spPr>
      </p:pic>
      <p:sp>
        <p:nvSpPr>
          <p:cNvPr id="6" name="TextBox 5"/>
          <p:cNvSpPr txBox="1"/>
          <p:nvPr/>
        </p:nvSpPr>
        <p:spPr>
          <a:xfrm>
            <a:off x="6949440" y="1554480"/>
            <a:ext cx="4937760" cy="4572000"/>
          </a:xfrm>
          <a:prstGeom prst="rect">
            <a:avLst/>
          </a:prstGeom>
          <a:noFill/>
        </p:spPr>
        <p:txBody>
          <a:bodyPr wrap="square">
            <a:spAutoFit/>
          </a:bodyPr>
          <a:lstStyle/>
          <a:p>
            <a:pPr>
              <a:spcBef>
                <a:spcPts val="0"/>
              </a:spcBef>
              <a:spcAft>
                <a:spcPts val="800"/>
              </a:spcAft>
            </a:pPr>
            <a:r>
              <a:rPr sz="1500" b="1" i="0">
                <a:solidFill>
                  <a:srgbClr val="E07A2B"/>
                </a:solidFill>
                <a:latin typeface="Calibri"/>
              </a:rPr>
              <a:t>▪ </a:t>
            </a:r>
            <a:r>
              <a:rPr sz="1500" b="1" i="0">
                <a:solidFill>
                  <a:srgbClr val="142A4A"/>
                </a:solidFill>
                <a:latin typeface="Calibri"/>
              </a:rPr>
              <a:t>Phép thử: </a:t>
            </a:r>
            <a:r>
              <a:rPr sz="1500" b="0" i="0">
                <a:solidFill>
                  <a:srgbClr val="142A4A"/>
                </a:solidFill>
                <a:latin typeface="Calibri"/>
              </a:rPr>
              <a:t>ràng mọi kết luận downstream vào một phép thử phá đồ thị (manipulation check) — phá đồ thị có làm dịch AUC không?</a:t>
            </a:r>
          </a:p>
          <a:p>
            <a:pPr>
              <a:spcBef>
                <a:spcPts val="0"/>
              </a:spcBef>
              <a:spcAft>
                <a:spcPts val="800"/>
              </a:spcAft>
            </a:pPr>
            <a:r>
              <a:rPr sz="1500" b="1" i="0">
                <a:solidFill>
                  <a:srgbClr val="E07A2B"/>
                </a:solidFill>
                <a:latin typeface="Calibri"/>
              </a:rPr>
              <a:t>▪ </a:t>
            </a:r>
            <a:r>
              <a:rPr sz="1500" b="1" i="0">
                <a:solidFill>
                  <a:srgbClr val="2E7D32"/>
                </a:solidFill>
                <a:latin typeface="Calibri"/>
              </a:rPr>
              <a:t>Phụ thuộc: </a:t>
            </a:r>
            <a:r>
              <a:rPr sz="1500" b="0" i="0">
                <a:solidFill>
                  <a:srgbClr val="2E7D32"/>
                </a:solidFill>
                <a:latin typeface="Calibri"/>
              </a:rPr>
              <a:t>GKT trên XES3G5M ĐẠT — phá đồ thị làm mất 0.07–0.09 AUC.</a:t>
            </a:r>
          </a:p>
          <a:p>
            <a:pPr lvl="1">
              <a:spcBef>
                <a:spcPts val="0"/>
              </a:spcBef>
              <a:spcAft>
                <a:spcPts val="800"/>
              </a:spcAft>
            </a:pPr>
            <a:r>
              <a:rPr sz="1300" b="0" i="0">
                <a:solidFill>
                  <a:srgbClr val="535963"/>
                </a:solidFill>
                <a:latin typeface="Calibri"/>
              </a:rPr>
              <a:t>– khi đó DDR dự báo tốt mức mất AUC (r = 0.97) và toán tử bảo toàn tiên quyết tốn ít độ chính xác nhất.</a:t>
            </a:r>
          </a:p>
          <a:p>
            <a:pPr>
              <a:spcBef>
                <a:spcPts val="0"/>
              </a:spcBef>
              <a:spcAft>
                <a:spcPts val="800"/>
              </a:spcAft>
            </a:pPr>
            <a:r>
              <a:rPr sz="1500" b="1" i="0">
                <a:solidFill>
                  <a:srgbClr val="E07A2B"/>
                </a:solidFill>
                <a:latin typeface="Calibri"/>
              </a:rPr>
              <a:t>▪ </a:t>
            </a:r>
            <a:r>
              <a:rPr sz="1500" b="1" i="0">
                <a:solidFill>
                  <a:srgbClr val="B03A2E"/>
                </a:solidFill>
                <a:latin typeface="Calibri"/>
              </a:rPr>
              <a:t>Trơ: </a:t>
            </a:r>
            <a:r>
              <a:rPr sz="1500" b="0" i="0">
                <a:solidFill>
                  <a:srgbClr val="B03A2E"/>
                </a:solidFill>
                <a:latin typeface="Calibri"/>
              </a:rPr>
              <a:t>DGEKT và GKT trên ASSISTments TRƯỢT — phá toàn bộ đồ thị chỉ làm dịch AUC ≤ 0.002 → đồ thị gần như không được dùng.</a:t>
            </a:r>
          </a:p>
          <a:p>
            <a:pPr>
              <a:spcBef>
                <a:spcPts val="0"/>
              </a:spcBef>
              <a:spcAft>
                <a:spcPts val="800"/>
              </a:spcAft>
            </a:pPr>
            <a:r>
              <a:rPr sz="1500" b="1" i="0">
                <a:solidFill>
                  <a:srgbClr val="E07A2B"/>
                </a:solidFill>
                <a:latin typeface="Calibri"/>
              </a:rPr>
              <a:t>▪ </a:t>
            </a:r>
            <a:r>
              <a:rPr sz="1500" b="1" i="0">
                <a:solidFill>
                  <a:srgbClr val="1E3C66"/>
                </a:solidFill>
                <a:latin typeface="Calibri"/>
              </a:rPr>
              <a:t>Kết luận: </a:t>
            </a:r>
            <a:r>
              <a:rPr sz="1500" b="0" i="0">
                <a:solidFill>
                  <a:srgbClr val="1E3C66"/>
                </a:solidFill>
                <a:latin typeface="Calibri"/>
              </a:rPr>
              <a:t>hư hại cấu trúc chỉ chuyển thành hư hại dự báo khi mô hình thực sự đọc đồ thị.</a:t>
            </a:r>
          </a:p>
        </p:txBody>
      </p:sp>
      <p:sp>
        <p:nvSpPr>
          <p:cNvPr id="7" name="TextBox 6"/>
          <p:cNvSpPr txBox="1"/>
          <p:nvPr/>
        </p:nvSpPr>
        <p:spPr>
          <a:xfrm>
            <a:off x="457200" y="6126480"/>
            <a:ext cx="6217920" cy="365760"/>
          </a:xfrm>
          <a:prstGeom prst="rect">
            <a:avLst/>
          </a:prstGeom>
          <a:noFill/>
        </p:spPr>
        <p:txBody>
          <a:bodyPr wrap="square">
            <a:spAutoFit/>
          </a:bodyPr>
          <a:lstStyle/>
          <a:p>
            <a:r>
              <a:rPr sz="1100" b="0" i="1">
                <a:solidFill>
                  <a:srgbClr val="535963"/>
                </a:solidFill>
                <a:latin typeface="Calibri"/>
              </a:rPr>
              <a:t>DDR → AUC downstream (mô hình phụ thuộc đồ thị).</a:t>
            </a:r>
          </a:p>
        </p:txBody>
      </p:sp>
      <p:sp>
        <p:nvSpPr>
          <p:cNvPr id="8" name="TextBox 7"/>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9" name="TextBox 8"/>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KẾT QUẢ</a:t>
            </a:r>
          </a:p>
          <a:p>
            <a:r>
              <a:rPr sz="2600" b="1" i="0">
                <a:solidFill>
                  <a:srgbClr val="FFFFFF"/>
                </a:solidFill>
                <a:latin typeface="Calibri"/>
              </a:rPr>
              <a:t>Thứ tự mô hình trên XES3G5M</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142A4A"/>
                </a:solidFill>
                <a:latin typeface="Calibri"/>
              </a:rPr>
              <a:t>Bộ ba mô hình chính (cùng ngân sách 10 epoch):</a:t>
            </a:r>
          </a:p>
          <a:p>
            <a:pPr lvl="1">
              <a:spcBef>
                <a:spcPts val="0"/>
              </a:spcBef>
              <a:spcAft>
                <a:spcPts val="800"/>
              </a:spcAft>
            </a:pPr>
            <a:r>
              <a:rPr sz="1500" b="0" i="0">
                <a:solidFill>
                  <a:srgbClr val="535963"/>
                </a:solidFill>
                <a:latin typeface="Calibri"/>
              </a:rPr>
              <a:t>– simpleKT/AKT ≈ 0.875   •   GIKT ≈ 0.878   •   GKT ≈ 0.834.</a:t>
            </a:r>
          </a:p>
          <a:p>
            <a:pPr>
              <a:spcBef>
                <a:spcPts val="0"/>
              </a:spcBef>
              <a:spcAft>
                <a:spcPts val="800"/>
              </a:spcAft>
            </a:pPr>
            <a:r>
              <a:rPr sz="1700" b="1" i="0">
                <a:solidFill>
                  <a:srgbClr val="E07A2B"/>
                </a:solidFill>
                <a:latin typeface="Calibri"/>
              </a:rPr>
              <a:t>▪ </a:t>
            </a:r>
            <a:r>
              <a:rPr sz="1700" b="1" i="0">
                <a:solidFill>
                  <a:srgbClr val="B03A2E"/>
                </a:solidFill>
                <a:latin typeface="Calibri"/>
              </a:rPr>
              <a:t>Chênh lệch: </a:t>
            </a:r>
            <a:r>
              <a:rPr sz="1700" b="0" i="0">
                <a:solidFill>
                  <a:srgbClr val="B03A2E"/>
                </a:solidFill>
                <a:latin typeface="Calibri"/>
              </a:rPr>
              <a:t>GKT kém simpleKT ≈ 0.041 AUC (paired-t, CI 95% [−0.044, −0.038]).</a:t>
            </a:r>
          </a:p>
          <a:p>
            <a:pPr>
              <a:spcBef>
                <a:spcPts val="0"/>
              </a:spcBef>
              <a:spcAft>
                <a:spcPts val="800"/>
              </a:spcAft>
            </a:pPr>
            <a:r>
              <a:rPr sz="1700" b="1" i="0">
                <a:solidFill>
                  <a:srgbClr val="E07A2B"/>
                </a:solidFill>
                <a:latin typeface="Calibri"/>
              </a:rPr>
              <a:t>▪ </a:t>
            </a:r>
            <a:r>
              <a:rPr sz="1700" b="1" i="0">
                <a:solidFill>
                  <a:srgbClr val="142A4A"/>
                </a:solidFill>
                <a:latin typeface="Calibri"/>
              </a:rPr>
              <a:t>Không do ngân sách: </a:t>
            </a:r>
            <a:r>
              <a:rPr sz="1700" b="0" i="0">
                <a:solidFill>
                  <a:srgbClr val="142A4A"/>
                </a:solidFill>
                <a:latin typeface="Calibri"/>
              </a:rPr>
              <a:t>kéo GKT lên 30 epoch chỉ gỡ ≈ 0.003 AUC; trung bình gộp vẫn ≈ −0.038 trên chín fold → không phải do thiếu ngân sách.</a:t>
            </a:r>
          </a:p>
          <a:p>
            <a:pPr>
              <a:spcBef>
                <a:spcPts val="600"/>
              </a:spcBef>
              <a:spcAft>
                <a:spcPts val="800"/>
              </a:spcAft>
            </a:pPr>
            <a:r>
              <a:rPr sz="1700" b="1" i="0">
                <a:solidFill>
                  <a:srgbClr val="E07A2B"/>
                </a:solidFill>
                <a:latin typeface="Calibri"/>
              </a:rPr>
              <a:t>▪ </a:t>
            </a:r>
            <a:r>
              <a:rPr sz="1700" b="1" i="0">
                <a:solidFill>
                  <a:srgbClr val="1E3C66"/>
                </a:solidFill>
                <a:latin typeface="Calibri"/>
              </a:rPr>
              <a:t>Thông điệp: </a:t>
            </a:r>
            <a:r>
              <a:rPr sz="1700" b="0" i="0">
                <a:solidFill>
                  <a:srgbClr val="1E3C66"/>
                </a:solidFill>
                <a:latin typeface="Calibri"/>
              </a:rPr>
              <a:t>phụ thuộc đồ thị không đồng nghĩa với lợi thế độ chính xác — có khi còn làm giảm độ chính xác khi mô hình chuỗi đã đủ mạnh.</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5. Từ rà soát đến hành động</a:t>
            </a:r>
          </a:p>
          <a:p>
            <a:r>
              <a:rPr sz="1800" b="0" i="0">
                <a:solidFill>
                  <a:srgbClr val="B9C6D8"/>
                </a:solidFill>
                <a:latin typeface="Calibri"/>
              </a:rPr>
              <a:t>Người triển khai cần làm khác đi điều gì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GIÁ TRỊ ỨNG DỤNG</a:t>
            </a:r>
          </a:p>
          <a:p>
            <a:r>
              <a:rPr sz="2600" b="1" i="0">
                <a:solidFill>
                  <a:srgbClr val="FFFFFF"/>
                </a:solidFill>
                <a:latin typeface="Calibri"/>
              </a:rPr>
              <a:t>Bản đồ quyết định: tín hiệu rà soát → hành động</a:t>
            </a:r>
          </a:p>
        </p:txBody>
      </p:sp>
      <p:graphicFrame>
        <p:nvGraphicFramePr>
          <p:cNvPr id="5" name="Table 4"/>
          <p:cNvGraphicFramePr>
            <a:graphicFrameLocks noGrp="1"/>
          </p:cNvGraphicFramePr>
          <p:nvPr/>
        </p:nvGraphicFramePr>
        <p:xfrm>
          <a:off x="502920" y="1325880"/>
          <a:ext cx="11201400" cy="4663440"/>
        </p:xfrm>
        <a:graphic>
          <a:graphicData uri="http://schemas.openxmlformats.org/drawingml/2006/table">
            <a:tbl>
              <a:tblPr firstRow="1" bandRow="1">
                <a:tableStyleId>{5C22544A-7EE6-4342-B048-85BDC9FD1C3A}</a:tableStyleId>
              </a:tblPr>
              <a:tblGrid>
                <a:gridCol w="3383280"/>
                <a:gridCol w="3657600"/>
                <a:gridCol w="4160520"/>
              </a:tblGrid>
              <a:tr h="777240">
                <a:tc>
                  <a:txBody>
                    <a:bodyPr/>
                    <a:lstStyle/>
                    <a:p>
                      <a:r>
                        <a:rPr sz="1400" b="1">
                          <a:solidFill>
                            <a:srgbClr val="FFFFFF"/>
                          </a:solidFill>
                          <a:latin typeface="Calibri"/>
                        </a:rPr>
                        <a:t>Tín hiệu rà soát</a:t>
                      </a:r>
                    </a:p>
                  </a:txBody>
                  <a:tcPr anchor="ctr">
                    <a:solidFill>
                      <a:srgbClr val="142A4A"/>
                    </a:solidFill>
                  </a:tcPr>
                </a:tc>
                <a:tc>
                  <a:txBody>
                    <a:bodyPr/>
                    <a:lstStyle/>
                    <a:p>
                      <a:r>
                        <a:rPr sz="1400" b="1">
                          <a:solidFill>
                            <a:srgbClr val="FFFFFF"/>
                          </a:solidFill>
                          <a:latin typeface="Calibri"/>
                        </a:rPr>
                        <a:t>Cách đọc</a:t>
                      </a:r>
                    </a:p>
                  </a:txBody>
                  <a:tcPr anchor="ctr">
                    <a:solidFill>
                      <a:srgbClr val="142A4A"/>
                    </a:solidFill>
                  </a:tcPr>
                </a:tc>
                <a:tc>
                  <a:txBody>
                    <a:bodyPr/>
                    <a:lstStyle/>
                    <a:p>
                      <a:r>
                        <a:rPr sz="1400" b="1">
                          <a:solidFill>
                            <a:srgbClr val="FFFFFF"/>
                          </a:solidFill>
                          <a:latin typeface="Calibri"/>
                        </a:rPr>
                        <a:t>Hành động triển khai</a:t>
                      </a:r>
                    </a:p>
                  </a:txBody>
                  <a:tcPr anchor="ctr">
                    <a:solidFill>
                      <a:srgbClr val="142A4A"/>
                    </a:solidFill>
                  </a:tcPr>
                </a:tc>
              </a:tr>
              <a:tr h="777240">
                <a:tc>
                  <a:txBody>
                    <a:bodyPr/>
                    <a:lstStyle/>
                    <a:p>
                      <a:r>
                        <a:rPr sz="1300">
                          <a:solidFill>
                            <a:srgbClr val="535963"/>
                          </a:solidFill>
                          <a:latin typeface="Calibri"/>
                        </a:rPr>
                        <a:t>Builder mass / TBMR</a:t>
                      </a:r>
                    </a:p>
                  </a:txBody>
                  <a:tcPr anchor="ctr">
                    <a:solidFill>
                      <a:srgbClr val="F2F5F9"/>
                    </a:solidFill>
                  </a:tcPr>
                </a:tc>
                <a:tc>
                  <a:txBody>
                    <a:bodyPr/>
                    <a:lstStyle/>
                    <a:p>
                      <a:r>
                        <a:rPr sz="1300">
                          <a:solidFill>
                            <a:srgbClr val="535963"/>
                          </a:solidFill>
                          <a:latin typeface="Calibri"/>
                        </a:rPr>
                        <a:t>Tăng (log gom vs. chỉ-train)</a:t>
                      </a:r>
                    </a:p>
                  </a:txBody>
                  <a:tcPr anchor="ctr">
                    <a:solidFill>
                      <a:srgbClr val="F2F5F9"/>
                    </a:solidFill>
                  </a:tcPr>
                </a:tc>
                <a:tc>
                  <a:txBody>
                    <a:bodyPr/>
                    <a:lstStyle/>
                    <a:p>
                      <a:r>
                        <a:rPr sz="1300" b="1">
                          <a:solidFill>
                            <a:srgbClr val="1E3C66"/>
                          </a:solidFill>
                          <a:latin typeface="Calibri"/>
                        </a:rPr>
                        <a:t>Ép đồ thị chỉ-từ-train; nghi ngờ phần lợi ích</a:t>
                      </a:r>
                    </a:p>
                  </a:txBody>
                  <a:tcPr anchor="ctr">
                    <a:solidFill>
                      <a:srgbClr val="F2F5F9"/>
                    </a:solidFill>
                  </a:tcPr>
                </a:tc>
              </a:tr>
              <a:tr h="777240">
                <a:tc>
                  <a:txBody>
                    <a:bodyPr/>
                    <a:lstStyle/>
                    <a:p>
                      <a:r>
                        <a:rPr sz="1300">
                          <a:solidFill>
                            <a:srgbClr val="535963"/>
                          </a:solidFill>
                          <a:latin typeface="Calibri"/>
                        </a:rPr>
                        <a:t>ECR-flag = 0 nhưng throughput cao</a:t>
                      </a:r>
                    </a:p>
                  </a:txBody>
                  <a:tcPr anchor="ctr">
                    <a:solidFill>
                      <a:srgbClr val="E6ECF3"/>
                    </a:solidFill>
                  </a:tcPr>
                </a:tc>
                <a:tc>
                  <a:txBody>
                    <a:bodyPr/>
                    <a:lstStyle/>
                    <a:p>
                      <a:r>
                        <a:rPr sz="1300">
                          <a:solidFill>
                            <a:srgbClr val="535963"/>
                          </a:solidFill>
                          <a:latin typeface="Calibri"/>
                        </a:rPr>
                        <a:t>Tách biệt nhưng vẫn nhiễm</a:t>
                      </a:r>
                    </a:p>
                  </a:txBody>
                  <a:tcPr anchor="ctr">
                    <a:solidFill>
                      <a:srgbClr val="E6ECF3"/>
                    </a:solidFill>
                  </a:tcPr>
                </a:tc>
                <a:tc>
                  <a:txBody>
                    <a:bodyPr/>
                    <a:lstStyle/>
                    <a:p>
                      <a:r>
                        <a:rPr sz="1300" b="1">
                          <a:solidFill>
                            <a:srgbClr val="1E3C66"/>
                          </a:solidFill>
                          <a:latin typeface="Calibri"/>
                        </a:rPr>
                        <a:t>Chia fold là chưa đủ; giữ nhật ký xuất xứ</a:t>
                      </a:r>
                    </a:p>
                  </a:txBody>
                  <a:tcPr anchor="ctr">
                    <a:solidFill>
                      <a:srgbClr val="E6ECF3"/>
                    </a:solidFill>
                  </a:tcPr>
                </a:tc>
              </a:tr>
              <a:tr h="777240">
                <a:tc>
                  <a:txBody>
                    <a:bodyPr/>
                    <a:lstStyle/>
                    <a:p>
                      <a:r>
                        <a:rPr sz="1300">
                          <a:solidFill>
                            <a:srgbClr val="535963"/>
                          </a:solidFill>
                          <a:latin typeface="Calibri"/>
                        </a:rPr>
                        <a:t>Phép thử phá đồ thị</a:t>
                      </a:r>
                    </a:p>
                  </a:txBody>
                  <a:tcPr anchor="ctr">
                    <a:solidFill>
                      <a:srgbClr val="F2F5F9"/>
                    </a:solidFill>
                  </a:tcPr>
                </a:tc>
                <a:tc>
                  <a:txBody>
                    <a:bodyPr/>
                    <a:lstStyle/>
                    <a:p>
                      <a:r>
                        <a:rPr sz="1300">
                          <a:solidFill>
                            <a:srgbClr val="535963"/>
                          </a:solidFill>
                          <a:latin typeface="Calibri"/>
                        </a:rPr>
                        <a:t>AUC không đổi khi phá đồ thị</a:t>
                      </a:r>
                    </a:p>
                  </a:txBody>
                  <a:tcPr anchor="ctr">
                    <a:solidFill>
                      <a:srgbClr val="F2F5F9"/>
                    </a:solidFill>
                  </a:tcPr>
                </a:tc>
                <a:tc>
                  <a:txBody>
                    <a:bodyPr/>
                    <a:lstStyle/>
                    <a:p>
                      <a:r>
                        <a:rPr sz="1300" b="1">
                          <a:solidFill>
                            <a:srgbClr val="1E3C66"/>
                          </a:solidFill>
                          <a:latin typeface="Calibri"/>
                        </a:rPr>
                        <a:t>Mô hình trơ: DDR chỉ để tái lập, không phải mục tiêu</a:t>
                      </a:r>
                    </a:p>
                  </a:txBody>
                  <a:tcPr anchor="ctr">
                    <a:solidFill>
                      <a:srgbClr val="F2F5F9"/>
                    </a:solidFill>
                  </a:tcPr>
                </a:tc>
              </a:tr>
              <a:tr h="777240">
                <a:tc>
                  <a:txBody>
                    <a:bodyPr/>
                    <a:lstStyle/>
                    <a:p>
                      <a:r>
                        <a:rPr sz="1300">
                          <a:solidFill>
                            <a:srgbClr val="535963"/>
                          </a:solidFill>
                          <a:latin typeface="Calibri"/>
                        </a:rPr>
                        <a:t>DDR vs. AUC (r ≈ 0.97)</a:t>
                      </a:r>
                    </a:p>
                  </a:txBody>
                  <a:tcPr anchor="ctr">
                    <a:solidFill>
                      <a:srgbClr val="E6ECF3"/>
                    </a:solidFill>
                  </a:tcPr>
                </a:tc>
                <a:tc>
                  <a:txBody>
                    <a:bodyPr/>
                    <a:lstStyle/>
                    <a:p>
                      <a:r>
                        <a:rPr sz="1300">
                          <a:solidFill>
                            <a:srgbClr val="535963"/>
                          </a:solidFill>
                          <a:latin typeface="Calibri"/>
                        </a:rPr>
                        <a:t>Đơn điệu trên mô hình phụ thuộc đồ thị</a:t>
                      </a:r>
                    </a:p>
                  </a:txBody>
                  <a:tcPr anchor="ctr">
                    <a:solidFill>
                      <a:srgbClr val="E6ECF3"/>
                    </a:solidFill>
                  </a:tcPr>
                </a:tc>
                <a:tc>
                  <a:txBody>
                    <a:bodyPr/>
                    <a:lstStyle/>
                    <a:p>
                      <a:r>
                        <a:rPr sz="1300" b="1">
                          <a:solidFill>
                            <a:srgbClr val="1E3C66"/>
                          </a:solidFill>
                          <a:latin typeface="Calibri"/>
                        </a:rPr>
                        <a:t>Ưu tiên bảo toàn tiên quyết; DDR là mục tiêu thiết kế</a:t>
                      </a:r>
                    </a:p>
                  </a:txBody>
                  <a:tcPr anchor="ctr">
                    <a:solidFill>
                      <a:srgbClr val="E6ECF3"/>
                    </a:solidFill>
                  </a:tcPr>
                </a:tc>
              </a:tr>
              <a:tr h="777240">
                <a:tc>
                  <a:txBody>
                    <a:bodyPr/>
                    <a:lstStyle/>
                    <a:p>
                      <a:r>
                        <a:rPr sz="1300">
                          <a:solidFill>
                            <a:srgbClr val="535963"/>
                          </a:solidFill>
                          <a:latin typeface="Calibri"/>
                        </a:rPr>
                        <a:t>Tầng cold-start</a:t>
                      </a:r>
                    </a:p>
                  </a:txBody>
                  <a:tcPr anchor="ctr">
                    <a:solidFill>
                      <a:srgbClr val="F2F5F9"/>
                    </a:solidFill>
                  </a:tcPr>
                </a:tc>
                <a:tc>
                  <a:txBody>
                    <a:bodyPr/>
                    <a:lstStyle/>
                    <a:p>
                      <a:r>
                        <a:rPr sz="1300">
                          <a:solidFill>
                            <a:srgbClr val="535963"/>
                          </a:solidFill>
                          <a:latin typeface="Calibri"/>
                        </a:rPr>
                        <a:t>Throughput cao nhất ở nơi ít dữ liệu</a:t>
                      </a:r>
                    </a:p>
                  </a:txBody>
                  <a:tcPr anchor="ctr">
                    <a:solidFill>
                      <a:srgbClr val="F2F5F9"/>
                    </a:solidFill>
                  </a:tcPr>
                </a:tc>
                <a:tc>
                  <a:txBody>
                    <a:bodyPr/>
                    <a:lstStyle/>
                    <a:p>
                      <a:r>
                        <a:rPr sz="1300" b="1">
                          <a:solidFill>
                            <a:srgbClr val="1E3C66"/>
                          </a:solidFill>
                          <a:latin typeface="Calibri"/>
                        </a:rPr>
                        <a:t>Báo cáo xuất xứ theo từng tầng</a:t>
                      </a:r>
                    </a:p>
                  </a:txBody>
                  <a:tcPr anchor="ctr">
                    <a:solidFill>
                      <a:srgbClr val="F2F5F9"/>
                    </a:solidFill>
                  </a:tcPr>
                </a:tc>
              </a:tr>
            </a:tbl>
          </a:graphicData>
        </a:graphic>
      </p:graphicFrame>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GIÁ TRỊ ỨNG DỤNG</a:t>
            </a:r>
          </a:p>
          <a:p>
            <a:r>
              <a:rPr sz="2600" b="1" i="0">
                <a:solidFill>
                  <a:srgbClr val="FFFFFF"/>
                </a:solidFill>
                <a:latin typeface="Calibri"/>
              </a:rPr>
              <a:t>Người triển khai cần làm khác đi</a:t>
            </a:r>
          </a:p>
        </p:txBody>
      </p:sp>
      <p:sp>
        <p:nvSpPr>
          <p:cNvPr id="5" name="TextBox 4"/>
          <p:cNvSpPr txBox="1"/>
          <p:nvPr/>
        </p:nvSpPr>
        <p:spPr>
          <a:xfrm>
            <a:off x="594360" y="146304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1. </a:t>
            </a:r>
            <a:r>
              <a:rPr sz="1700" b="0" i="0">
                <a:solidFill>
                  <a:srgbClr val="142A4A"/>
                </a:solidFill>
                <a:latin typeface="Calibri"/>
              </a:rPr>
              <a:t>Dựng đồ thị sạch theo fold — chỉ suy từ fold huấn luyện và ghi xuất xứ từng cạnh.</a:t>
            </a:r>
          </a:p>
          <a:p>
            <a:pPr>
              <a:spcBef>
                <a:spcPts val="0"/>
              </a:spcBef>
              <a:spcAft>
                <a:spcPts val="800"/>
              </a:spcAft>
            </a:pPr>
            <a:r>
              <a:rPr sz="1700" b="1" i="0">
                <a:solidFill>
                  <a:srgbClr val="E07A2B"/>
                </a:solidFill>
                <a:latin typeface="Calibri"/>
              </a:rPr>
              <a:t>▪ </a:t>
            </a:r>
            <a:r>
              <a:rPr sz="1700" b="1" i="0">
                <a:solidFill>
                  <a:srgbClr val="142A4A"/>
                </a:solidFill>
                <a:latin typeface="Calibri"/>
              </a:rPr>
              <a:t>2. </a:t>
            </a:r>
            <a:r>
              <a:rPr sz="1700" b="0" i="0">
                <a:solidFill>
                  <a:srgbClr val="142A4A"/>
                </a:solidFill>
                <a:latin typeface="Calibri"/>
              </a:rPr>
              <a:t>Đọc chỉ số throughput thay vì độ chính xác — xác định vị trí bộ dữ liệu trên lưới throughput × reliance.</a:t>
            </a:r>
          </a:p>
          <a:p>
            <a:pPr>
              <a:spcBef>
                <a:spcPts val="0"/>
              </a:spcBef>
              <a:spcAft>
                <a:spcPts val="800"/>
              </a:spcAft>
            </a:pPr>
            <a:r>
              <a:rPr sz="1700" b="1" i="0">
                <a:solidFill>
                  <a:srgbClr val="E07A2B"/>
                </a:solidFill>
                <a:latin typeface="Calibri"/>
              </a:rPr>
              <a:t>▪ </a:t>
            </a:r>
            <a:r>
              <a:rPr sz="1700" b="1" i="0">
                <a:solidFill>
                  <a:srgbClr val="142A4A"/>
                </a:solidFill>
                <a:latin typeface="Calibri"/>
              </a:rPr>
              <a:t>3. </a:t>
            </a:r>
            <a:r>
              <a:rPr sz="1700" b="0" i="0">
                <a:solidFill>
                  <a:srgbClr val="142A4A"/>
                </a:solidFill>
                <a:latin typeface="Calibri"/>
              </a:rPr>
              <a:t>Ràng mọi kết luận downstream vào phép thử phá đồ thị — xác nhận mô hình thực sự đọc đồ thị trước khi quy công cho nó.</a:t>
            </a:r>
          </a:p>
          <a:p>
            <a:pPr>
              <a:spcBef>
                <a:spcPts val="0"/>
              </a:spcBef>
              <a:spcAft>
                <a:spcPts val="800"/>
              </a:spcAft>
            </a:pPr>
            <a:r>
              <a:rPr sz="1700" b="1" i="0">
                <a:solidFill>
                  <a:srgbClr val="E07A2B"/>
                </a:solidFill>
                <a:latin typeface="Calibri"/>
              </a:rPr>
              <a:t>▪ </a:t>
            </a:r>
            <a:r>
              <a:rPr sz="1700" b="1" i="0">
                <a:solidFill>
                  <a:srgbClr val="142A4A"/>
                </a:solidFill>
                <a:latin typeface="Calibri"/>
              </a:rPr>
              <a:t>4. </a:t>
            </a:r>
            <a:r>
              <a:rPr sz="1700" b="0" i="0">
                <a:solidFill>
                  <a:srgbClr val="142A4A"/>
                </a:solidFill>
                <a:latin typeface="Calibri"/>
              </a:rPr>
              <a:t>Ưu tiên toán tử tăng cường bảo toàn cấu trúc — dùng toán tử bảo toàn tiên quyết mà DDR đánh giá cao.</a:t>
            </a:r>
          </a:p>
          <a:p>
            <a:pPr>
              <a:spcBef>
                <a:spcPts val="800"/>
              </a:spcBef>
              <a:spcAft>
                <a:spcPts val="800"/>
              </a:spcAft>
            </a:pPr>
            <a:r>
              <a:rPr sz="1700" b="1" i="0">
                <a:solidFill>
                  <a:srgbClr val="1E3C66"/>
                </a:solidFill>
                <a:latin typeface="Calibri"/>
              </a:rPr>
              <a:t>Bốn bước này là phần cốt lõi hành động của checklist và bản đồ quyết định.</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78892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971800"/>
            <a:ext cx="10607040" cy="1463040"/>
          </a:xfrm>
          <a:prstGeom prst="rect">
            <a:avLst/>
          </a:prstGeom>
          <a:noFill/>
        </p:spPr>
        <p:txBody>
          <a:bodyPr wrap="square">
            <a:spAutoFit/>
          </a:bodyPr>
          <a:lstStyle/>
          <a:p>
            <a:r>
              <a:rPr sz="4000" b="1" i="0">
                <a:solidFill>
                  <a:srgbClr val="FFFFFF"/>
                </a:solidFill>
                <a:latin typeface="Calibri"/>
              </a:rPr>
              <a:t>6. Thảo luận &amp; Điểm chốt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THẢO LUẬN</a:t>
            </a:r>
          </a:p>
          <a:p>
            <a:r>
              <a:rPr sz="2600" b="1" i="0">
                <a:solidFill>
                  <a:srgbClr val="FFFFFF"/>
                </a:solidFill>
                <a:latin typeface="Calibri"/>
              </a:rPr>
              <a:t>Hạn chế &amp; hướng phát triển</a:t>
            </a:r>
          </a:p>
        </p:txBody>
      </p:sp>
      <p:sp>
        <p:nvSpPr>
          <p:cNvPr id="5" name="TextBox 4"/>
          <p:cNvSpPr txBox="1"/>
          <p:nvPr/>
        </p:nvSpPr>
        <p:spPr>
          <a:xfrm>
            <a:off x="594360" y="137160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Hạn chế: </a:t>
            </a:r>
            <a:r>
              <a:rPr sz="1700" b="0" i="0">
                <a:solidFill>
                  <a:srgbClr val="142A4A"/>
                </a:solidFill>
                <a:latin typeface="Calibri"/>
              </a:rPr>
              <a:t>cạnh tương đồng phụ thuộc Q-matrix (không dựng được khi mã hóa đơn kỹ năng, ví dụ ASSISTments).</a:t>
            </a:r>
          </a:p>
          <a:p>
            <a:pPr lvl="1">
              <a:spcBef>
                <a:spcPts val="0"/>
              </a:spcBef>
              <a:spcAft>
                <a:spcPts val="800"/>
              </a:spcAft>
            </a:pPr>
            <a:r>
              <a:rPr sz="1500" b="0" i="0">
                <a:solidFill>
                  <a:srgbClr val="535963"/>
                </a:solidFill>
                <a:latin typeface="Calibri"/>
              </a:rPr>
              <a:t>– hiệu ứng rò rỉ nhỏ trên các benchmark công khai là do bộ lọc tần suất siết throughput, không phải vì rò rỉ vô hại nói chung.</a:t>
            </a:r>
          </a:p>
          <a:p>
            <a:pPr lvl="1">
              <a:spcBef>
                <a:spcPts val="0"/>
              </a:spcBef>
              <a:spcAft>
                <a:spcPts val="800"/>
              </a:spcAft>
            </a:pPr>
            <a:r>
              <a:rPr sz="1500" b="0" i="0">
                <a:solidFill>
                  <a:srgbClr val="535963"/>
                </a:solidFill>
                <a:latin typeface="Calibri"/>
              </a:rPr>
              <a:t>– tầng rất lạnh có n nhỏ nên AUC theo tầng có phương sai cao.</a:t>
            </a:r>
          </a:p>
          <a:p>
            <a:pPr>
              <a:spcBef>
                <a:spcPts val="0"/>
              </a:spcBef>
              <a:spcAft>
                <a:spcPts val="800"/>
              </a:spcAft>
            </a:pPr>
            <a:r>
              <a:rPr sz="1700" b="1" i="0">
                <a:solidFill>
                  <a:srgbClr val="E07A2B"/>
                </a:solidFill>
                <a:latin typeface="Calibri"/>
              </a:rPr>
              <a:t>▪ </a:t>
            </a:r>
            <a:r>
              <a:rPr sz="1700" b="1" i="0">
                <a:solidFill>
                  <a:srgbClr val="142A4A"/>
                </a:solidFill>
                <a:latin typeface="Calibri"/>
              </a:rPr>
              <a:t>Hướng phát triển: </a:t>
            </a:r>
            <a:r>
              <a:rPr sz="1700" b="0" i="0">
                <a:solidFill>
                  <a:srgbClr val="142A4A"/>
                </a:solidFill>
                <a:latin typeface="Calibri"/>
              </a:rPr>
              <a:t>tách lợi ích của graph-KT thành ba phần — phần còn lại sau kiểm soát rò rỉ, phần do cách dựng đồ thị, phần do mô hình nền.</a:t>
            </a:r>
          </a:p>
          <a:p>
            <a:pPr lvl="1">
              <a:spcBef>
                <a:spcPts val="0"/>
              </a:spcBef>
              <a:spcAft>
                <a:spcPts val="800"/>
              </a:spcAft>
            </a:pPr>
            <a:r>
              <a:rPr sz="1500" b="0" i="0">
                <a:solidFill>
                  <a:srgbClr val="535963"/>
                </a:solidFill>
                <a:latin typeface="Calibri"/>
              </a:rPr>
              <a:t>– kết hợp đồ thị suy luận và đồ thị chuyên gia như hai quan hệ; mở rộng phép thử downstream có kiểm soát; rà soát reachability-disruption.</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155680" cy="868680"/>
          </a:xfrm>
          <a:prstGeom prst="rect">
            <a:avLst/>
          </a:prstGeom>
          <a:noFill/>
        </p:spPr>
        <p:txBody>
          <a:bodyPr wrap="square" anchor="ctr">
            <a:spAutoFit/>
          </a:bodyPr>
          <a:lstStyle/>
          <a:p>
            <a:r>
              <a:rPr sz="1200" b="1" i="0">
                <a:solidFill>
                  <a:srgbClr val="E07A2B"/>
                </a:solidFill>
                <a:latin typeface="Calibri"/>
              </a:rPr>
              <a:t>KẾT LUẬN</a:t>
            </a:r>
          </a:p>
          <a:p>
            <a:r>
              <a:rPr sz="2600" b="1" i="0">
                <a:solidFill>
                  <a:srgbClr val="FFFFFF"/>
                </a:solidFill>
                <a:latin typeface="Calibri"/>
              </a:rPr>
              <a:t>Điểm chốt</a:t>
            </a:r>
          </a:p>
        </p:txBody>
      </p:sp>
      <p:sp>
        <p:nvSpPr>
          <p:cNvPr id="5" name="TextBox 4"/>
          <p:cNvSpPr txBox="1"/>
          <p:nvPr/>
        </p:nvSpPr>
        <p:spPr>
          <a:xfrm>
            <a:off x="594360" y="1463040"/>
            <a:ext cx="10972800" cy="4846320"/>
          </a:xfrm>
          <a:prstGeom prst="rect">
            <a:avLst/>
          </a:prstGeom>
          <a:noFill/>
        </p:spPr>
        <p:txBody>
          <a:bodyPr wrap="square">
            <a:spAutoFit/>
          </a:bodyPr>
          <a:lstStyle/>
          <a:p>
            <a:pPr>
              <a:spcBef>
                <a:spcPts val="0"/>
              </a:spcBef>
              <a:spcAft>
                <a:spcPts val="800"/>
              </a:spcAft>
            </a:pPr>
            <a:r>
              <a:rPr sz="1700" b="1" i="0">
                <a:solidFill>
                  <a:srgbClr val="E07A2B"/>
                </a:solidFill>
                <a:latin typeface="Calibri"/>
              </a:rPr>
              <a:t>▪ </a:t>
            </a:r>
            <a:r>
              <a:rPr sz="1700" b="1" i="0">
                <a:solidFill>
                  <a:srgbClr val="142A4A"/>
                </a:solidFill>
                <a:latin typeface="Calibri"/>
              </a:rPr>
              <a:t>1. </a:t>
            </a:r>
            <a:r>
              <a:rPr sz="1700" b="0" i="0">
                <a:solidFill>
                  <a:srgbClr val="142A4A"/>
                </a:solidFill>
                <a:latin typeface="Calibri"/>
              </a:rPr>
              <a:t>Xây dựng đồ thị là một thành phần thực nghiệm hạng nhất — và là một kênh rò rỉ dữ liệu — chứ không phải bước tiền xử lý xem nhẹ.</a:t>
            </a:r>
          </a:p>
          <a:p>
            <a:pPr>
              <a:spcBef>
                <a:spcPts val="0"/>
              </a:spcBef>
              <a:spcAft>
                <a:spcPts val="800"/>
              </a:spcAft>
            </a:pPr>
            <a:r>
              <a:rPr sz="1700" b="1" i="0">
                <a:solidFill>
                  <a:srgbClr val="E07A2B"/>
                </a:solidFill>
                <a:latin typeface="Calibri"/>
              </a:rPr>
              <a:t>▪ </a:t>
            </a:r>
            <a:r>
              <a:rPr sz="1700" b="1" i="0">
                <a:solidFill>
                  <a:srgbClr val="142A4A"/>
                </a:solidFill>
                <a:latin typeface="Calibri"/>
              </a:rPr>
              <a:t>2. </a:t>
            </a:r>
            <a:r>
              <a:rPr sz="1700" b="0" i="0">
                <a:solidFill>
                  <a:srgbClr val="142A4A"/>
                </a:solidFill>
                <a:latin typeface="Calibri"/>
              </a:rPr>
              <a:t>Tác hại có điều kiện: cần đồng thời throughput cao VÀ mô hình phụ thuộc đồ thị (đạt phép thử phá đồ thị).</a:t>
            </a:r>
          </a:p>
          <a:p>
            <a:pPr>
              <a:spcBef>
                <a:spcPts val="0"/>
              </a:spcBef>
              <a:spcAft>
                <a:spcPts val="800"/>
              </a:spcAft>
            </a:pPr>
            <a:r>
              <a:rPr sz="1700" b="1" i="0">
                <a:solidFill>
                  <a:srgbClr val="E07A2B"/>
                </a:solidFill>
                <a:latin typeface="Calibri"/>
              </a:rPr>
              <a:t>▪ </a:t>
            </a:r>
            <a:r>
              <a:rPr sz="1700" b="1" i="0">
                <a:solidFill>
                  <a:srgbClr val="142A4A"/>
                </a:solidFill>
                <a:latin typeface="Calibri"/>
              </a:rPr>
              <a:t>3. </a:t>
            </a:r>
            <a:r>
              <a:rPr sz="1700" b="0" i="0">
                <a:solidFill>
                  <a:srgbClr val="142A4A"/>
                </a:solidFill>
                <a:latin typeface="Calibri"/>
              </a:rPr>
              <a:t>Đo kênh trực tiếp (builder mass, TBMR); AUC là báo động muộn và không đáng tin.</a:t>
            </a:r>
          </a:p>
          <a:p>
            <a:pPr>
              <a:spcBef>
                <a:spcPts val="0"/>
              </a:spcBef>
              <a:spcAft>
                <a:spcPts val="800"/>
              </a:spcAft>
            </a:pPr>
            <a:r>
              <a:rPr sz="1700" b="1" i="0">
                <a:solidFill>
                  <a:srgbClr val="E07A2B"/>
                </a:solidFill>
                <a:latin typeface="Calibri"/>
              </a:rPr>
              <a:t>▪ </a:t>
            </a:r>
            <a:r>
              <a:rPr sz="1700" b="1" i="0">
                <a:solidFill>
                  <a:srgbClr val="142A4A"/>
                </a:solidFill>
                <a:latin typeface="Calibri"/>
              </a:rPr>
              <a:t>4. </a:t>
            </a:r>
            <a:r>
              <a:rPr sz="1700" b="0" i="0">
                <a:solidFill>
                  <a:srgbClr val="142A4A"/>
                </a:solidFill>
                <a:latin typeface="Calibri"/>
              </a:rPr>
              <a:t>DDR cùng toán tử bảo toàn tiên quyết cho một lựa chọn tăng cường có nguyên tắc, tôn trọng cấu trúc.</a:t>
            </a:r>
          </a:p>
          <a:p>
            <a:pPr>
              <a:spcBef>
                <a:spcPts val="0"/>
              </a:spcBef>
              <a:spcAft>
                <a:spcPts val="800"/>
              </a:spcAft>
            </a:pPr>
            <a:r>
              <a:rPr sz="1700" b="1" i="0">
                <a:solidFill>
                  <a:srgbClr val="E07A2B"/>
                </a:solidFill>
                <a:latin typeface="Calibri"/>
              </a:rPr>
              <a:t>▪ </a:t>
            </a:r>
            <a:r>
              <a:rPr sz="1700" b="1" i="0">
                <a:solidFill>
                  <a:srgbClr val="1E3C66"/>
                </a:solidFill>
                <a:latin typeface="Calibri"/>
              </a:rPr>
              <a:t>5. </a:t>
            </a:r>
            <a:r>
              <a:rPr sz="1700" b="0" i="0">
                <a:solidFill>
                  <a:srgbClr val="1E3C66"/>
                </a:solidFill>
                <a:latin typeface="Calibri"/>
              </a:rPr>
              <a:t>Sản phẩm là một lớp rà soát rò rỉ hỗ trợ quyết định và chấm điểm rủi ro cho graph-enhanced KT đáng tin cậy.</a:t>
            </a:r>
          </a:p>
        </p:txBody>
      </p:sp>
      <p:sp>
        <p:nvSpPr>
          <p:cNvPr id="6" name="TextBox 5"/>
          <p:cNvSpPr txBox="1"/>
          <p:nvPr/>
        </p:nvSpPr>
        <p:spPr>
          <a:xfrm>
            <a:off x="365760" y="6419088"/>
            <a:ext cx="9326880" cy="365760"/>
          </a:xfrm>
          <a:prstGeom prst="rect">
            <a:avLst/>
          </a:prstGeom>
          <a:noFill/>
        </p:spPr>
        <p:txBody>
          <a:bodyPr wrap="square">
            <a:spAutoFit/>
          </a:bodyPr>
          <a:lstStyle/>
          <a:p>
            <a:r>
              <a:rPr sz="900" b="0" i="0">
                <a:solidFill>
                  <a:srgbClr val="535963"/>
                </a:solidFill>
                <a:latin typeface="Calibri"/>
              </a:rPr>
              <a:t>Kiểm soát rò rỉ khi xây dựng đồ thị khái niệm cho Knowledge Tracing  •  Applied Intelligence</a:t>
            </a:r>
          </a:p>
        </p:txBody>
      </p:sp>
      <p:sp>
        <p:nvSpPr>
          <p:cNvPr id="7" name="TextBox 6"/>
          <p:cNvSpPr txBox="1"/>
          <p:nvPr/>
        </p:nvSpPr>
        <p:spPr>
          <a:xfrm>
            <a:off x="11430000" y="6419088"/>
            <a:ext cx="640080" cy="365760"/>
          </a:xfrm>
          <a:prstGeom prst="rect">
            <a:avLst/>
          </a:prstGeom>
          <a:noFill/>
        </p:spPr>
        <p:txBody>
          <a:bodyPr wrap="square">
            <a:spAutoFit/>
          </a:bodyPr>
          <a:lstStyle/>
          <a:p>
            <a:pPr algn="r"/>
            <a:r>
              <a:rPr sz="1000" b="1" i="0">
                <a:solidFill>
                  <a:srgbClr val="535963"/>
                </a:solidFill>
                <a:latin typeface="Calibri"/>
              </a:rPr>
              <a:t>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383280"/>
            <a:ext cx="1554480" cy="109728"/>
          </a:xfrm>
          <a:prstGeom prst="rect">
            <a:avLst/>
          </a:prstGeom>
          <a:solidFill>
            <a:srgbClr val="E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10607040" cy="1097280"/>
          </a:xfrm>
          <a:prstGeom prst="rect">
            <a:avLst/>
          </a:prstGeom>
          <a:noFill/>
        </p:spPr>
        <p:txBody>
          <a:bodyPr wrap="square">
            <a:spAutoFit/>
          </a:bodyPr>
          <a:lstStyle/>
          <a:p>
            <a:r>
              <a:rPr sz="4200" b="1" i="0">
                <a:solidFill>
                  <a:srgbClr val="FFFFFF"/>
                </a:solidFill>
                <a:latin typeface="Calibri"/>
              </a:rPr>
              <a:t>Xin cảm ơn — Thảo luận?</a:t>
            </a:r>
          </a:p>
        </p:txBody>
      </p:sp>
      <p:sp>
        <p:nvSpPr>
          <p:cNvPr id="5" name="TextBox 4"/>
          <p:cNvSpPr txBox="1"/>
          <p:nvPr/>
        </p:nvSpPr>
        <p:spPr>
          <a:xfrm>
            <a:off x="822960" y="3611880"/>
            <a:ext cx="10607040" cy="1463040"/>
          </a:xfrm>
          <a:prstGeom prst="rect">
            <a:avLst/>
          </a:prstGeom>
          <a:noFill/>
        </p:spPr>
        <p:txBody>
          <a:bodyPr wrap="square">
            <a:spAutoFit/>
          </a:bodyPr>
          <a:lstStyle/>
          <a:p>
            <a:r>
              <a:rPr sz="1700" b="0" i="0">
                <a:solidFill>
                  <a:srgbClr val="D8E0EC"/>
                </a:solidFill>
                <a:latin typeface="Calibri"/>
              </a:rPr>
              <a:t>Kiểm soát rò rỉ khi xây dựng đồ thị khái niệm cho Knowledge Tracing</a:t>
            </a:r>
          </a:p>
          <a:p>
            <a:pPr>
              <a:spcBef>
                <a:spcPts val="800"/>
              </a:spcBef>
            </a:pPr>
            <a:r>
              <a:rPr sz="1400" b="0" i="0">
                <a:solidFill>
                  <a:srgbClr val="B9C6D8"/>
                </a:solidFill>
                <a:latin typeface="Calibri"/>
              </a:rPr>
              <a:t>Tác giả liên hệ: Nguyen Van Hau — nvhau666@gmail.com</a:t>
            </a:r>
          </a:p>
          <a:p>
            <a:r>
              <a:rPr sz="1400" b="0" i="0">
                <a:solidFill>
                  <a:srgbClr val="B9C6D8"/>
                </a:solidFill>
                <a:latin typeface="Calibri"/>
              </a:rPr>
              <a:t>Mã nguồn &amp; dữ liệu: github.com/tuanymc/p0_project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