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0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Xây dựng đồ thị khái niệm kiểm soát rò rỉ
cho Knowledge Tracing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057400"/>
            <a:ext cx="98755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D2E6F5"/>
                </a:solidFill>
                <a:latin typeface="Arial"/>
              </a:rPr>
              <a:t>Báo cáo kết quả nghiên cứu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Arial"/>
              </a:rPr>
              <a:t>Dao Minh Tuan, Nguyen Tien Duong, Nguyen Khanh Trinh, Nguyen Van Hau, Le Hoang 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623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D2E6F5"/>
                </a:solidFill>
                <a:latin typeface="Arial"/>
              </a:rPr>
              <a:t>Hung Yen University of Technology and Education | VNU Information Technology 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6365C"/>
                </a:solidFill>
                <a:latin typeface="Arial"/>
              </a:rPr>
              <a:t>Bối cảnh và vấn đề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27432"/>
          </a:xfrm>
          <a:prstGeom prst="rect">
            <a:avLst/>
          </a:prstGeom>
          <a:solidFill>
            <a:srgbClr val="008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21208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141920"/>
                </a:solidFill>
                <a:latin typeface="Arial"/>
              </a:defRPr>
            </a:pPr>
            <a:r>
              <a:t>KT dự đoán trạng thái nắm vững kiến thức từ chuỗi tương tác học tập.</a:t>
            </a:r>
            <a:endParaRPr lang="en-US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141920"/>
                </a:solidFill>
                <a:latin typeface="Arial"/>
              </a:defRPr>
            </a:pPr>
            <a:endParaRPr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141920"/>
                </a:solidFill>
                <a:latin typeface="Arial"/>
              </a:defRPr>
            </a:pPr>
            <a:r>
              <a:t>Các mô hình graph-KT dùng đồ thị kỹ năng/bài tập để bổ sung quan hệ tiên quyết.</a:t>
            </a:r>
            <a:endParaRPr lang="en-US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141920"/>
                </a:solidFill>
                <a:latin typeface="Arial"/>
              </a:defRPr>
            </a:pPr>
            <a:endParaRPr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141920"/>
                </a:solidFill>
                <a:latin typeface="Arial"/>
              </a:defRPr>
            </a:pPr>
            <a:r>
              <a:t>Nếu đồ thị được suy luận từ toàn bộ log trước khi split, cạnh có thể mang thông tin validation/test.</a:t>
            </a:r>
            <a:endParaRPr lang="en-US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141920"/>
                </a:solidFill>
                <a:latin typeface="Arial"/>
              </a:defRPr>
            </a:pPr>
            <a:endParaRPr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141920"/>
                </a:solidFill>
                <a:latin typeface="Arial"/>
              </a:defRPr>
            </a:pPr>
            <a:r>
              <a:t>Rò rỉ không nằm trong nhãn trực tiếp, mà đi qua feature cấu trúc của mô hình.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417320"/>
            <a:ext cx="2331720" cy="1234440"/>
          </a:xfrm>
          <a:prstGeom prst="round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Graph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input của mô hình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417320"/>
            <a:ext cx="2331720" cy="1234440"/>
          </a:xfrm>
          <a:prstGeom prst="round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Leakage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qua nguồn gốc cạnh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2971800"/>
            <a:ext cx="2331720" cy="1234440"/>
          </a:xfrm>
          <a:prstGeom prst="roundRect">
            <a:avLst/>
          </a:prstGeom>
          <a:solidFill>
            <a:srgbClr val="489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Train-only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ràng buộc chính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2971800"/>
            <a:ext cx="2331720" cy="1234440"/>
          </a:xfrm>
          <a:prstGeom prst="roundRect">
            <a:avLst/>
          </a:prstGeom>
          <a:solidFill>
            <a:srgbClr val="E08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Audit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báo cáo provenance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C6470"/>
                </a:solidFill>
                <a:latin typeface="Arial"/>
              </a:rPr>
              <a:t>P0 KT Graph Protocol | Báo cáo hội thảo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5C647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6365C"/>
                </a:solidFill>
                <a:latin typeface="Arial"/>
              </a:rPr>
              <a:t>Mục tiêu nghiên cứu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27432"/>
          </a:xfrm>
          <a:prstGeom prst="rect">
            <a:avLst/>
          </a:prstGeom>
          <a:solidFill>
            <a:srgbClr val="008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470"/>
                </a:solidFill>
                <a:latin typeface="Arial"/>
              </a:rPr>
              <a:t>Biến đồ thị khái niệm từ artefact tiền xử lý thành đối tượng có thể kiểm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881360" cy="2590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>
                <a:solidFill>
                  <a:srgbClr val="141920"/>
                </a:solidFill>
                <a:latin typeface="Arial"/>
              </a:defRPr>
            </a:pPr>
            <a:r>
              <a:t>Xây dựng E_pre và E_sim theo từng fold, chỉ dùng người học train.</a:t>
            </a:r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>
                <a:solidFill>
                  <a:srgbClr val="141920"/>
                </a:solidFill>
                <a:latin typeface="Arial"/>
              </a:defRPr>
            </a:pPr>
            <a:r>
              <a:t>Ghi provenance và kiểm tra rò rỉ trực tiếp: ECR flag, ECR overlap, EOC, TBVR.</a:t>
            </a:r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>
                <a:solidFill>
                  <a:srgbClr val="141920"/>
                </a:solidFill>
                <a:latin typeface="Arial"/>
              </a:defRPr>
            </a:pPr>
            <a:r>
              <a:t>Bảo đảm đồ thị tiên quyết là DAG bằng tỉa chu trình có quy tắc.</a:t>
            </a:r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>
                <a:solidFill>
                  <a:srgbClr val="141920"/>
                </a:solidFill>
                <a:latin typeface="Arial"/>
              </a:defRPr>
            </a:pPr>
            <a:r>
              <a:t>Đánh giá ảnh hưởng train-only vs full-log bằng ablation có kiểm soát.</a:t>
            </a:r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>
                <a:solidFill>
                  <a:srgbClr val="141920"/>
                </a:solidFill>
                <a:latin typeface="Arial"/>
              </a:defRPr>
            </a:pPr>
            <a:r>
              <a:t>Báo cáo cold-start và đối chiếu Junyi với chú giải chuyên gia.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C6470"/>
                </a:solidFill>
                <a:latin typeface="Arial"/>
              </a:rPr>
              <a:t>P0 KT Graph Protocol | Báo cáo hội thảo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5C647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6365C"/>
                </a:solidFill>
                <a:latin typeface="Arial"/>
              </a:rPr>
              <a:t>Giao thức đề xuất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27432"/>
          </a:xfrm>
          <a:prstGeom prst="rect">
            <a:avLst/>
          </a:prstGeom>
          <a:solidFill>
            <a:srgbClr val="008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2148840"/>
            <a:ext cx="1874519" cy="1234440"/>
          </a:xfrm>
          <a:prstGeom prst="round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1. Chia người học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Arial"/>
              </a:rPr>
              <a:t>train/val/test
rời nhau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42032" y="2542032"/>
            <a:ext cx="475488" cy="292608"/>
          </a:xfrm>
          <a:prstGeom prst="rightArrow">
            <a:avLst/>
          </a:prstGeom>
          <a:solidFill>
            <a:srgbClr val="5C6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953512" y="2148840"/>
            <a:ext cx="1874519" cy="1234440"/>
          </a:xfrm>
          <a:prstGeom prst="roundRect">
            <a:avLst/>
          </a:prstGeom>
          <a:solidFill>
            <a:srgbClr val="008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2. Suy luận đồ thị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Arial"/>
              </a:rPr>
              <a:t>chỉ từ train
E_pre, E_sim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9744" y="2542032"/>
            <a:ext cx="475488" cy="292608"/>
          </a:xfrm>
          <a:prstGeom prst="rightArrow">
            <a:avLst/>
          </a:prstGeom>
          <a:solidFill>
            <a:srgbClr val="5C6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221224" y="2148840"/>
            <a:ext cx="1874519" cy="1234440"/>
          </a:xfrm>
          <a:prstGeom prst="roundRect">
            <a:avLst/>
          </a:prstGeom>
          <a:solidFill>
            <a:srgbClr val="489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3. Kiểm toán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Arial"/>
              </a:rPr>
              <a:t>ECR, EOC,
TBVR, DAG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77456" y="2542032"/>
            <a:ext cx="475488" cy="292608"/>
          </a:xfrm>
          <a:prstGeom prst="rightArrow">
            <a:avLst/>
          </a:prstGeom>
          <a:solidFill>
            <a:srgbClr val="5C6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88936" y="2148840"/>
            <a:ext cx="1874519" cy="1234440"/>
          </a:xfrm>
          <a:prstGeom prst="roundRect">
            <a:avLst/>
          </a:prstGeom>
          <a:solidFill>
            <a:srgbClr val="E08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4. Huấn luyện KT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Arial"/>
              </a:rPr>
              <a:t>pyKT + graph
train-only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45167" y="2542032"/>
            <a:ext cx="475488" cy="292608"/>
          </a:xfrm>
          <a:prstGeom prst="rightArrow">
            <a:avLst/>
          </a:prstGeom>
          <a:solidFill>
            <a:srgbClr val="5C6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756648" y="2148840"/>
            <a:ext cx="1874519" cy="1234440"/>
          </a:xfrm>
          <a:prstGeom prst="round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5. Báo cáo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Arial"/>
              </a:rPr>
              <a:t>baseline,
ablation, cold-start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5C6470"/>
                </a:solidFill>
                <a:latin typeface="Arial"/>
              </a:defRPr>
            </a:pPr>
            <a:r>
              <a:t>Nguyên tắc: mọi cạnh đồ thị trong fold f chỉ được suy luận từ \mathcal{F}_{train}^f.</a:t>
            </a:r>
          </a:p>
          <a:p>
            <a:pPr>
              <a:spcAft>
                <a:spcPts val="400"/>
              </a:spcAft>
              <a:defRPr sz="1600">
                <a:solidFill>
                  <a:srgbClr val="5C6470"/>
                </a:solidFill>
                <a:latin typeface="Arial"/>
              </a:defRPr>
            </a:pPr>
            <a:r>
              <a:t>Validation/test chỉ dùng để đánh giá KT, không dùng để đếm transition hoặc co-occurrence.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C6470"/>
                </a:solidFill>
                <a:latin typeface="Arial"/>
              </a:rPr>
              <a:t>P0 KT Graph Protocol | Báo cáo hội thảo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5C647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6365C"/>
                </a:solidFill>
                <a:latin typeface="Arial"/>
              </a:rPr>
              <a:t>Dữ liệu thực nghiệm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27432"/>
          </a:xfrm>
          <a:prstGeom prst="rect">
            <a:avLst/>
          </a:prstGeom>
          <a:solidFill>
            <a:srgbClr val="008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4300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Vai trò</a:t>
                      </a:r>
                    </a:p>
                  </a:txBody>
                  <a:tcPr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Ghi chú</a:t>
                      </a:r>
                    </a:p>
                  </a:txBody>
                  <a:tcPr>
                    <a:solidFill>
                      <a:srgbClr val="16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41920"/>
                          </a:solidFill>
                          <a:latin typeface="Arial"/>
                        </a:rPr>
                        <a:t>Junyi Academy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41920"/>
                          </a:solidFill>
                          <a:latin typeface="Arial"/>
                        </a:rPr>
                        <a:t>Có expert prerequisite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41920"/>
                          </a:solidFill>
                          <a:latin typeface="Arial"/>
                        </a:rPr>
                        <a:t>Đối chiếu hành vi - chuyên gia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41920"/>
                          </a:solidFill>
                          <a:latin typeface="Arial"/>
                        </a:rPr>
                        <a:t>ASSISTments 2012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41920"/>
                          </a:solidFill>
                          <a:latin typeface="Arial"/>
                        </a:rPr>
                        <a:t>Có Q-matrix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41920"/>
                          </a:solidFill>
                          <a:latin typeface="Arial"/>
                        </a:rPr>
                        <a:t>Baseline đã có 3-fold learner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41920"/>
                          </a:solidFill>
                          <a:latin typeface="Arial"/>
                        </a:rPr>
                        <a:t>XES3G5M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41920"/>
                          </a:solidFill>
                          <a:latin typeface="Arial"/>
                        </a:rPr>
                        <a:t>Benchmark lớn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41920"/>
                          </a:solidFill>
                          <a:latin typeface="Arial"/>
                        </a:rPr>
                        <a:t>Metadata KC phân cấp, baseline fold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41920"/>
                          </a:solidFill>
                          <a:latin typeface="Arial"/>
                        </a:rPr>
                        <a:t>Synthetic C2/C5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41920"/>
                          </a:solidFill>
                          <a:latin typeface="Arial"/>
                        </a:rPr>
                        <a:t>Sanity corpora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41920"/>
                          </a:solidFill>
                          <a:latin typeface="Arial"/>
                        </a:rPr>
                        <a:t>Kiểm tra độ nhạy ablation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5321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C6470"/>
                </a:solidFill>
                <a:latin typeface="Arial"/>
              </a:rPr>
              <a:t>Tất cả dataset dùng split theo người học với tỷ lệ 0.7 / 0.1 / 0.2 và seed 42.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C6470"/>
                </a:solidFill>
                <a:latin typeface="Arial"/>
              </a:rPr>
              <a:t>P0 KT Graph Protocol | Báo cáo hội thảo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5C647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6365C"/>
                </a:solidFill>
                <a:latin typeface="Arial"/>
              </a:rPr>
              <a:t>Kiểm toán rò rỉ và DAG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27432"/>
          </a:xfrm>
          <a:prstGeom prst="rect">
            <a:avLst/>
          </a:prstGeom>
          <a:solidFill>
            <a:srgbClr val="008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2468880" cy="1051560"/>
          </a:xfrm>
          <a:prstGeom prst="roundRect">
            <a:avLst/>
          </a:prstGeom>
          <a:solidFill>
            <a:srgbClr val="489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0.000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ECR flag trên mọi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051560"/>
            <a:ext cx="2468880" cy="1051560"/>
          </a:xfrm>
          <a:prstGeom prst="round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1,139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cạnh DAG Junyi giữ lại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051560"/>
            <a:ext cx="2468880" cy="1051560"/>
          </a:xfrm>
          <a:prstGeom prst="roundRect">
            <a:avLst/>
          </a:prstGeom>
          <a:solidFill>
            <a:srgbClr val="E08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47%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ứng viên Junyi bị tỉa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051560"/>
            <a:ext cx="2468880" cy="1051560"/>
          </a:xfrm>
          <a:prstGeom prst="roundRect">
            <a:avLst/>
          </a:prstGeom>
          <a:solidFill>
            <a:srgbClr val="008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701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cạnh DAG XES3G5M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141920"/>
                </a:solidFill>
                <a:latin typeface="Arial"/>
              </a:defRPr>
            </a:pPr>
            <a:r>
              <a:t>Không có bằng chứng rò rỉ split ở mức người học.</a:t>
            </a:r>
          </a:p>
          <a:p>
            <a:pPr>
              <a:spcAft>
                <a:spcPts val="600"/>
              </a:spcAft>
              <a:defRPr sz="1650">
                <a:solidFill>
                  <a:srgbClr val="141920"/>
                </a:solidFill>
                <a:latin typeface="Arial"/>
              </a:defRPr>
            </a:pPr>
            <a:r>
              <a:t>ECR overlap cao phản ánh mẫu transition lặp lại giữa người học khác nhau.</a:t>
            </a:r>
          </a:p>
          <a:p>
            <a:pPr>
              <a:spcAft>
                <a:spcPts val="600"/>
              </a:spcAft>
              <a:defRPr sz="1650">
                <a:solidFill>
                  <a:srgbClr val="141920"/>
                </a:solidFill>
                <a:latin typeface="Arial"/>
              </a:defRPr>
            </a:pPr>
            <a:r>
              <a:t>Cycle pruning là bước bắt buộc vì dữ liệu hành vi tạo nhiều quan hệ xung đột.</a:t>
            </a:r>
          </a:p>
        </p:txBody>
      </p:sp>
      <p:pic>
        <p:nvPicPr>
          <p:cNvPr id="9" name="Picture 8" descr="fig_kt_graph_juny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423160"/>
            <a:ext cx="5029200" cy="3154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C6470"/>
                </a:solidFill>
                <a:latin typeface="Arial"/>
              </a:rPr>
              <a:t>P0 KT Graph Protocol | Báo cáo hội thảo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5C647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6365C"/>
                </a:solidFill>
                <a:latin typeface="Arial"/>
              </a:rPr>
              <a:t>DAG Disruption Rate (DDR)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27432"/>
          </a:xfrm>
          <a:prstGeom prst="rect">
            <a:avLst/>
          </a:prstGeom>
          <a:solidFill>
            <a:srgbClr val="008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ddr_juny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15568"/>
            <a:ext cx="3611880" cy="2834640"/>
          </a:xfrm>
          <a:prstGeom prst="rect">
            <a:avLst/>
          </a:prstGeom>
        </p:spPr>
      </p:pic>
      <p:pic>
        <p:nvPicPr>
          <p:cNvPr id="5" name="Picture 4" descr="fig_ddr_assist2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1115568"/>
            <a:ext cx="3611880" cy="2834640"/>
          </a:xfrm>
          <a:prstGeom prst="rect">
            <a:avLst/>
          </a:prstGeom>
        </p:spPr>
      </p:pic>
      <p:pic>
        <p:nvPicPr>
          <p:cNvPr id="6" name="Picture 5" descr="fig_ddr_xes3g5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1115568"/>
            <a:ext cx="3611880" cy="2834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45262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50">
                <a:solidFill>
                  <a:srgbClr val="5C6470"/>
                </a:solidFill>
                <a:latin typeface="Arial"/>
              </a:defRPr>
            </a:pPr>
            <a:r>
              <a:t>Thứ tự tác động nhất quán: attribute masking &lt; subgraph/random-walk &lt; edge dropping &lt; node dropping.</a:t>
            </a:r>
          </a:p>
          <a:p>
            <a:pPr>
              <a:spcAft>
                <a:spcPts val="400"/>
              </a:spcAft>
              <a:defRPr sz="1550">
                <a:solidFill>
                  <a:srgbClr val="5C6470"/>
                </a:solidFill>
                <a:latin typeface="Arial"/>
              </a:defRPr>
            </a:pPr>
            <a:r>
              <a:t>DDR giúp chọn augmentation theo tác động cấu trúc, không chỉ theo mức nhiễu ngẫu nhiên.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C6470"/>
                </a:solidFill>
                <a:latin typeface="Arial"/>
              </a:rPr>
              <a:t>P0 KT Graph Protocol | Báo cáo hội thảo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5C647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6365C"/>
                </a:solidFill>
                <a:latin typeface="Arial"/>
              </a:rPr>
              <a:t>Baseline KT cập nhật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27432"/>
          </a:xfrm>
          <a:prstGeom prst="rect">
            <a:avLst/>
          </a:prstGeom>
          <a:solidFill>
            <a:srgbClr val="008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636867"/>
              </p:ext>
            </p:extLst>
          </p:nvPr>
        </p:nvGraphicFramePr>
        <p:xfrm>
          <a:off x="502920" y="1097280"/>
          <a:ext cx="1120140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algn="ctr"/>
                      <a:r>
                        <a:rPr sz="1080" b="1" i="0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 i="0">
                          <a:solidFill>
                            <a:srgbClr val="FFFFFF"/>
                          </a:solidFill>
                          <a:latin typeface="Arial"/>
                        </a:rPr>
                        <a:t>Mô hình</a:t>
                      </a:r>
                    </a:p>
                  </a:txBody>
                  <a:tcPr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 i="0">
                          <a:solidFill>
                            <a:srgbClr val="FFFFFF"/>
                          </a:solidFill>
                          <a:latin typeface="Arial"/>
                        </a:rPr>
                        <a:t>AUC</a:t>
                      </a:r>
                    </a:p>
                  </a:txBody>
                  <a:tcPr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 i="0">
                          <a:solidFill>
                            <a:srgbClr val="FFFFFF"/>
                          </a:solidFill>
                          <a:latin typeface="Arial"/>
                        </a:rPr>
                        <a:t>ACC</a:t>
                      </a:r>
                    </a:p>
                  </a:txBody>
                  <a:tcPr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 i="0">
                          <a:solidFill>
                            <a:srgbClr val="FFFFFF"/>
                          </a:solidFill>
                          <a:latin typeface="Arial"/>
                        </a:rPr>
                        <a:t>NLL</a:t>
                      </a:r>
                    </a:p>
                  </a:txBody>
                  <a:tcPr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 i="0">
                          <a:solidFill>
                            <a:srgbClr val="FFFFFF"/>
                          </a:solidFill>
                          <a:latin typeface="Arial"/>
                        </a:rPr>
                        <a:t>Ghi chú</a:t>
                      </a:r>
                    </a:p>
                  </a:txBody>
                  <a:tcPr>
                    <a:solidFill>
                      <a:srgbClr val="16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ASSIST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GIKT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0.998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FF0000"/>
                          </a:solidFill>
                          <a:latin typeface="Arial"/>
                        </a:rPr>
                        <a:t>1.000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0.004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native GIKT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ASSIST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simpleKT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0.968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0.916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3-fold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ASSIST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GKT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0.961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0.907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0.185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-0.007 AUC vs simpleKT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Junyi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simpleKT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0.093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fold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Junyi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SKT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0.986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0.954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0.107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cache bổ sung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XES3G5M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simpleKT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0.874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0.857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fold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XES3G5M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GKT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0.835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0.842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0.365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-0.039 AUC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C6470"/>
                </a:solidFill>
                <a:latin typeface="Arial"/>
              </a:rPr>
              <a:t>P0 KT Graph Protocol | Báo cáo hội thảo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5C647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6365C"/>
                </a:solidFill>
                <a:latin typeface="Arial"/>
              </a:rPr>
              <a:t>ASSISTments 3-fold learner CV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27432"/>
          </a:xfrm>
          <a:prstGeom prst="rect">
            <a:avLst/>
          </a:prstGeom>
          <a:solidFill>
            <a:srgbClr val="008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143000"/>
          <a:ext cx="66294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FFFFFF"/>
                          </a:solidFill>
                          <a:latin typeface="Arial"/>
                        </a:rPr>
                        <a:t>Mô hình</a:t>
                      </a:r>
                    </a:p>
                  </a:txBody>
                  <a:tcPr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FFFFFF"/>
                          </a:solidFill>
                          <a:latin typeface="Arial"/>
                        </a:rPr>
                        <a:t>AUC</a:t>
                      </a:r>
                    </a:p>
                  </a:txBody>
                  <a:tcPr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FFFFFF"/>
                          </a:solidFill>
                          <a:latin typeface="Arial"/>
                        </a:rPr>
                        <a:t>ACC</a:t>
                      </a:r>
                    </a:p>
                  </a:txBody>
                  <a:tcPr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FFFFFF"/>
                          </a:solidFill>
                          <a:latin typeface="Arial"/>
                        </a:rPr>
                        <a:t>NLL</a:t>
                      </a:r>
                    </a:p>
                  </a:txBody>
                  <a:tcPr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FFFFFF"/>
                          </a:solidFill>
                          <a:latin typeface="Arial"/>
                        </a:rPr>
                        <a:t>Wilcoxon p</a:t>
                      </a:r>
                    </a:p>
                  </a:txBody>
                  <a:tcPr>
                    <a:solidFill>
                      <a:srgbClr val="16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simpleKT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0.968 ± 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0.916 ± 0.001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0.173 ± 0.001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---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GKT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0.961 ±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0.907 ±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0.185 ±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GIKT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0.998 ± 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1.000 ± 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0.004 ± 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0.250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SKT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0.953 ±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0.898 ±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0.198 ±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DyGKT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0.952 ± 0.001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0.899 ± 0.001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0.200 ± 0.002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0.250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18120" y="1417320"/>
            <a:ext cx="3566160" cy="2467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141920"/>
                </a:solidFill>
                <a:latin typeface="Arial"/>
              </a:defRPr>
            </a:pPr>
            <a:r>
              <a:t>Wilcoxon với n=3 fold bị underpowered.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141920"/>
                </a:solidFill>
                <a:latin typeface="Arial"/>
              </a:defRPr>
            </a:pPr>
            <a:r>
              <a:t>GKT/SKT/DyGKT thấp hơn simpleKT trên ASSIST.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141920"/>
                </a:solidFill>
                <a:latin typeface="Arial"/>
              </a:defRPr>
            </a:pPr>
            <a:r>
              <a:t>GIKT native là kênh kiến trúc riêng qua question-KC bipartite.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C6470"/>
                </a:solidFill>
                <a:latin typeface="Arial"/>
              </a:rPr>
              <a:t>P0 KT Graph Protocol | Báo cáo hội thảo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5C647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6365C"/>
                </a:solidFill>
                <a:latin typeface="Arial"/>
              </a:rPr>
              <a:t>Ablation: train-only vs full-log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27432"/>
          </a:xfrm>
          <a:prstGeom prst="rect">
            <a:avLst/>
          </a:prstGeom>
          <a:solidFill>
            <a:srgbClr val="008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788920" cy="1143000"/>
          </a:xfrm>
          <a:prstGeom prst="roundRect">
            <a:avLst/>
          </a:prstGeom>
          <a:solidFill>
            <a:srgbClr val="489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&lt; 0.001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|ΔAUC| trên public benchmarks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188720"/>
            <a:ext cx="2788920" cy="1143000"/>
          </a:xfrm>
          <a:prstGeom prst="roundRect">
            <a:avLst/>
          </a:prstGeom>
          <a:solidFill>
            <a:srgbClr val="E08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+0.004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GIKT trên Synthetic C5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88720"/>
            <a:ext cx="2788920" cy="1143000"/>
          </a:xfrm>
          <a:prstGeom prst="round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-0.006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GKT trên Synthetic C5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34640"/>
            <a:ext cx="10881360" cy="1793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700">
                <a:solidFill>
                  <a:srgbClr val="141920"/>
                </a:solidFill>
                <a:latin typeface="Arial"/>
              </a:defRPr>
            </a:pPr>
            <a:r>
              <a:t>Full-log graph không cải thiện headline AUC/ACC trên ASSISTments, XES3G5M và Junyi ở ba chữ số thập phân.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700">
                <a:solidFill>
                  <a:srgbClr val="141920"/>
                </a:solidFill>
                <a:latin typeface="Arial"/>
              </a:defRPr>
            </a:pPr>
            <a:r>
              <a:t>Kết quả không phủ nhận rủi ro rò rỉ; nó cho thấy bộ lọc cạnh hiện tại ổn định trên các benchmark lớn.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700">
                <a:solidFill>
                  <a:srgbClr val="141920"/>
                </a:solidFill>
                <a:latin typeface="Arial"/>
              </a:defRPr>
            </a:pPr>
            <a:r>
              <a:t>Train-only graph không gây phạt hiệu năng đáng kể, nên là mặc định an toàn cho benchmark.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C6470"/>
                </a:solidFill>
                <a:latin typeface="Arial"/>
              </a:rPr>
              <a:t>P0 KT Graph Protocol | Báo cáo hội thảo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5C647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6365C"/>
                </a:solidFill>
                <a:latin typeface="Arial"/>
              </a:rPr>
              <a:t>Đối chiếu ground-truth trên Junyi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27432"/>
          </a:xfrm>
          <a:prstGeom prst="rect">
            <a:avLst/>
          </a:prstGeom>
          <a:solidFill>
            <a:srgbClr val="008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p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5760720" cy="4343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720840" y="1325880"/>
            <a:ext cx="2194560" cy="1024128"/>
          </a:xfrm>
          <a:prstGeom prst="round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0.63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node Jaccard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325880"/>
            <a:ext cx="2194560" cy="1024128"/>
          </a:xfrm>
          <a:prstGeom prst="roundRect">
            <a:avLst/>
          </a:prstGeom>
          <a:solidFill>
            <a:srgbClr val="E08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0.18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edge F1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2697480"/>
            <a:ext cx="2194560" cy="1024128"/>
          </a:xfrm>
          <a:prstGeom prst="round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0.26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direction agreement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4160520"/>
            <a:ext cx="4617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50">
                <a:solidFill>
                  <a:srgbClr val="5C6470"/>
                </a:solidFill>
                <a:latin typeface="Arial"/>
              </a:defRPr>
            </a:pPr>
            <a:r>
              <a:t>Hành vi và chuyên gia liên quan ở mức nút, khác rõ ở mức cạnh.</a:t>
            </a:r>
          </a:p>
          <a:p>
            <a:pPr>
              <a:spcAft>
                <a:spcPts val="300"/>
              </a:spcAft>
              <a:defRPr sz="1450">
                <a:solidFill>
                  <a:srgbClr val="5C6470"/>
                </a:solidFill>
                <a:latin typeface="Arial"/>
              </a:defRPr>
            </a:pPr>
            <a:r>
              <a:t>Đồ thị hành vi không nên được xem là thay thế rẻ cho expert DAG.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C6470"/>
                </a:solidFill>
                <a:latin typeface="Arial"/>
              </a:rPr>
              <a:t>P0 KT Graph Protocol | Báo cáo hội thảo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5C647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6365C"/>
                </a:solidFill>
                <a:latin typeface="Arial"/>
              </a:rPr>
              <a:t>Giới hạn và diễn giải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27432"/>
          </a:xfrm>
          <a:prstGeom prst="rect">
            <a:avLst/>
          </a:prstGeom>
          <a:solidFill>
            <a:srgbClr val="008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41920"/>
                </a:solidFill>
                <a:latin typeface="Arial"/>
              </a:defRPr>
            </a:pPr>
            <a:r>
              <a:t>Junyi, XES3G5M và synthetic hiện vẫn là fold 0 trong baseline chính; ASSISTments đã có 3-fold.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41920"/>
                </a:solidFill>
                <a:latin typeface="Arial"/>
              </a:defRPr>
            </a:pPr>
            <a:r>
              <a:t>Junyi mới có SKT cache; GKT/GIKT/DyGKT/DGEKT còn thiếu do giới hạn tài nguyên.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41920"/>
                </a:solidFill>
                <a:latin typeface="Arial"/>
              </a:defRPr>
            </a:pPr>
            <a:r>
              <a:t>TBVR cao đo mức trộn trong train timeline, không phải lỗi split validation/test.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41920"/>
                </a:solidFill>
                <a:latin typeface="Arial"/>
              </a:defRPr>
            </a:pPr>
            <a:r>
              <a:t>Cycle pruning loại xung đột yếu nhất trong chu trình; cần báo cáo độ nhạy theo mức tỉa.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41920"/>
                </a:solidFill>
                <a:latin typeface="Arial"/>
              </a:defRPr>
            </a:pPr>
            <a:r>
              <a:t>Kết luận hướng tới kỷ luật benchmark và provenance, không phải phủ định graph-KT.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C6470"/>
                </a:solidFill>
                <a:latin typeface="Arial"/>
              </a:rPr>
              <a:t>P0 KT Graph Protocol | Báo cáo hội thảo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5C647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6365C"/>
                </a:solidFill>
                <a:latin typeface="Arial"/>
              </a:rPr>
              <a:t>Thông điệp chính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27432"/>
          </a:xfrm>
          <a:prstGeom prst="rect">
            <a:avLst/>
          </a:prstGeom>
          <a:solidFill>
            <a:srgbClr val="008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8680" y="1234440"/>
            <a:ext cx="3017520" cy="1325880"/>
          </a:xfrm>
          <a:prstGeom prst="round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1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Đồ thị KT phải có provenance theo fold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234440"/>
            <a:ext cx="3017520" cy="1325880"/>
          </a:xfrm>
          <a:prstGeom prst="roundRect">
            <a:avLst/>
          </a:prstGeom>
          <a:solidFill>
            <a:srgbClr val="489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2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Train-only không làm giảm headline AUC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234440"/>
            <a:ext cx="3017520" cy="1325880"/>
          </a:xfrm>
          <a:prstGeom prst="roundRect">
            <a:avLst/>
          </a:prstGeom>
          <a:solidFill>
            <a:srgbClr val="E08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3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Behavioral graph ≠ expert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50">
                <a:solidFill>
                  <a:srgbClr val="141920"/>
                </a:solidFill>
                <a:latin typeface="Arial"/>
              </a:defRPr>
            </a:pPr>
            <a:r>
              <a:t>So sánh graph-augmented KT và sequence-only KT cần kiểm soát nguồn gốc cạnh.</a:t>
            </a:r>
          </a:p>
          <a:p>
            <a:pPr>
              <a:spcAft>
                <a:spcPts val="600"/>
              </a:spcAft>
              <a:defRPr sz="1750">
                <a:solidFill>
                  <a:srgbClr val="141920"/>
                </a:solidFill>
                <a:latin typeface="Arial"/>
              </a:defRPr>
            </a:pPr>
            <a:r>
              <a:t>Giao thức cung cấp pipeline tái lập: split, graph, audit, baseline, ablation, cold-start.</a:t>
            </a:r>
          </a:p>
          <a:p>
            <a:pPr>
              <a:spcAft>
                <a:spcPts val="600"/>
              </a:spcAft>
              <a:defRPr sz="1750">
                <a:solidFill>
                  <a:srgbClr val="141920"/>
                </a:solidFill>
                <a:latin typeface="Arial"/>
              </a:defRPr>
            </a:pPr>
            <a:r>
              <a:t>Đây là tài nguyên benchmark/protocol, không phải một mô hình KT mới.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5897880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6365C"/>
                </a:solidFill>
                <a:latin typeface="Arial"/>
              </a:rPr>
              <a:t>Xin cảm ơn!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C6470"/>
                </a:solidFill>
                <a:latin typeface="Arial"/>
              </a:rPr>
              <a:t>P0 KT Graph Protocol | Báo cáo hội thảo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5C647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1152</Words>
  <Application>Microsoft Office PowerPoint</Application>
  <PresentationFormat>Widescreen</PresentationFormat>
  <Paragraphs>215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ĐÀO MINH TUẤN</cp:lastModifiedBy>
  <cp:revision>4</cp:revision>
  <dcterms:created xsi:type="dcterms:W3CDTF">2013-01-27T09:14:16Z</dcterms:created>
  <dcterms:modified xsi:type="dcterms:W3CDTF">2026-05-26T21:46:29Z</dcterms:modified>
  <cp:category/>
</cp:coreProperties>
</file>