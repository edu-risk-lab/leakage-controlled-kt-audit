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07A2B"/>
                </a:solidFill>
                <a:latin typeface="Calibri"/>
              </a:rPr>
              <a:t>APPLIED INTELLIGENCE  •  RESEARCH SEMINAR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FFFFFF"/>
                </a:solidFill>
                <a:latin typeface="Calibri"/>
              </a:rPr>
              <a:t>Leakage-Controlled Concept Graph Construction and Cold-Start Diagnostic Protocol for Knowledge Tracing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Dao Minh Tuan, Nguyen Khanh Trinh, Nguyen Tien Duong, Ngo Quoc Khanh, </a:t>
            </a:r>
            <a:r>
              <a:rPr sz="1500" b="1" i="0">
                <a:solidFill>
                  <a:srgbClr val="E07A2B"/>
                </a:solidFill>
                <a:latin typeface="Calibri"/>
              </a:rPr>
              <a:t>Nguyen Van Hau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(corresponding), Le Hoang Son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B9C6D8"/>
                </a:solidFill>
                <a:latin typeface="Calibri"/>
              </a:rPr>
              <a:t>Hung Yen University of Technology and Education  •  Vietnam National University, Hanoi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D8E0EC"/>
                </a:solidFill>
                <a:latin typeface="Calibri"/>
              </a:rPr>
              <a:t>An audit protocol — not a new KT backbone — for trustworthy graph-enhanced knowledge tracing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OVERVIEW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1.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Motivation: hidden leakage in graph-enhanced knowledge tracing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2.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The problem: graphs as a back-channel for held-out information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3.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Contributions: an audit protocol and its five components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4.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Method: leakage control, DAG validation, DDR, cold-start, GT cross-validation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5.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The two-factor law: throughput × reliance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6.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Results: conditional harm, model-specific ordering, ground-truth divergence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7.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From audit signal to deployment action (practitioner view)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8.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Limitations, future work, and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554480" cy="109728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 Motivation &amp; Problem</a:t>
            </a:r>
          </a:p>
          <a:p>
            <a:r>
              <a:rPr sz="1800" b="0" i="0">
                <a:solidFill>
                  <a:srgbClr val="B9C6D8"/>
                </a:solidFill>
                <a:latin typeface="Calibri"/>
              </a:rPr>
              <a:t>Why graph construction is a leakage surface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BACKGROUND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Knowledge Tracing and concept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What: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Knowledge Tracing (KT) estimates a learner's mastery of knowledge components (KCs) from interaction history.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Powers adaptive practice, intelligent tutoring, and curriculum recommendation.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Trend: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Evolution: BKT → deep sequential models (DKT, DKVMN, AKT, simpleKT) → graph-enhanced models (GKT, GIKT, DGEKT).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Graphs: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Graph-enhanced KT propagates information over a KC graph (prerequisite / similarity relations).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B03A2E"/>
                </a:solidFill>
                <a:latin typeface="Calibri"/>
              </a:rPr>
              <a:t>– That auxiliary graph is usually built from the SAME interaction logs used for training and evaluation.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E3C66"/>
                </a:solidFill>
                <a:latin typeface="Calibri"/>
              </a:rPr>
              <a:t>Gap: </a:t>
            </a:r>
            <a:r>
              <a:rPr sz="1700" b="0" i="0">
                <a:solidFill>
                  <a:srgbClr val="1E3C66"/>
                </a:solidFill>
                <a:latin typeface="Calibri"/>
              </a:rPr>
              <a:t>Key question: is a reported graph gain real, or an artefact of how the graph was constructed?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PROBLEM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The hidden leakage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Mechanism: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When edges are pooled BEFORE the train/test split, held-out information reaches the model through the graph — even if the KT optimiser only sees the training fold.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B03A2E"/>
                </a:solidFill>
                <a:latin typeface="Calibri"/>
              </a:rPr>
              <a:t>▪ Sequence-level fold splitting is necessary but NOT sufficient: the graph is a separate contamination surface.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 i="0">
                <a:solidFill>
                  <a:srgbClr val="142A4A"/>
                </a:solidFill>
                <a:latin typeface="Calibri"/>
              </a:rPr>
              <a:t>Worked example (leakage throughput):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Hot KC: 20 leaked traversals change edge support 40→60 → 33% throughput.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B03A2E"/>
                </a:solidFill>
                <a:latin typeface="Calibri"/>
              </a:rPr>
              <a:t>– Very-cold KC: the same 20 raise support 4→24 → 83% throughput.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E3C66"/>
                </a:solidFill>
                <a:latin typeface="Calibri"/>
              </a:rPr>
              <a:t>Insight: </a:t>
            </a:r>
            <a:r>
              <a:rPr sz="1700" b="0" i="0">
                <a:solidFill>
                  <a:srgbClr val="1E3C66"/>
                </a:solidFill>
                <a:latin typeface="Calibri"/>
              </a:rPr>
              <a:t>Leakage throughput scales INVERSELY with train-fold KC frequency — cold-start KCs are the highest-throughput entry points.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Therefore: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Aggregate AUC is a late, unreliable alarm; we need to measure the channel directly.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554480" cy="109728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 Contributions</a:t>
            </a:r>
          </a:p>
          <a:p>
            <a:r>
              <a:rPr sz="1800" b="0" i="0">
                <a:solidFill>
                  <a:srgbClr val="B9C6D8"/>
                </a:solidFill>
                <a:latin typeface="Calibri"/>
              </a:rPr>
              <a:t>An audit protocol, not a new backbone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CONTRIBUTIONS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Five contributions (C1–C5)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C1 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Leakage-controlled construction: learner-based temporal splits + train-only prerequisite/similarity inference with per-edge provenance.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C2 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Tiered leakage diagnostics: builder mass, TBMR, ECR-flag / ECR-overlap — measure contamination independently of accuracy.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C3 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DAG validation + DDR (DAG Disruption Rate): a structural metric that separates augmentation operators.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C4 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Cold-start stratification: per-KC-frequency reporting that exposes where leakage and weak evidence concentrate.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C5 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Ground-truth cross-validation: behavioural inference vs. expert prerequisite curation (edge / direction / reachability / node-Jaccard).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E3C66"/>
                </a:solidFill>
                <a:latin typeface="Calibri"/>
              </a:rPr>
              <a:t>Framing: </a:t>
            </a:r>
            <a:r>
              <a:rPr sz="1700" b="0" i="0">
                <a:solidFill>
                  <a:srgbClr val="1E3C66"/>
                </a:solidFill>
                <a:latin typeface="Calibri"/>
              </a:rPr>
              <a:t>Positioning: a decision-support &amp; leakage risk-scoring layer for trustworthy deployment — not a route to higher headline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554480" cy="109728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3. The Audit Protocol</a:t>
            </a:r>
          </a:p>
          <a:p>
            <a:r>
              <a:rPr sz="1800" b="0" i="0">
                <a:solidFill>
                  <a:srgbClr val="B9C6D8"/>
                </a:solidFill>
                <a:latin typeface="Calibri"/>
              </a:rPr>
              <a:t>Construction → diagnostics →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METHOD — C1/C2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Leakage control &amp;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Train-only: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Split by learner and time; infer edges only from the training fold (F_train), never the pooled log.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Provenance: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Log fold-specific provenance for every retained edge (reproducible, cross-paper comparable exports).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 i="0">
                <a:solidFill>
                  <a:srgbClr val="142A4A"/>
                </a:solidFill>
                <a:latin typeface="Calibri"/>
              </a:rPr>
              <a:t>Diagnostic tiers: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Builder mass / TBMR — within-train temporal mixing &amp; throughput.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ECR-flag — learner-disjointness (can be 0 while throughput is high!).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ECR-overlap — cold-start neighbourhood contamination.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B03A2E"/>
                </a:solidFill>
                <a:latin typeface="Calibri"/>
              </a:rPr>
              <a:t>Lesson: </a:t>
            </a:r>
            <a:r>
              <a:rPr sz="1700" b="0" i="0">
                <a:solidFill>
                  <a:srgbClr val="B03A2E"/>
                </a:solidFill>
                <a:latin typeface="Calibri"/>
              </a:rPr>
              <a:t>Fold-disjoint splits are necessary but insufficient; scalar leakage summaries can hide throughput-driven shifts.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METHOD — C3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DDR: DAG Disruption Rate</a:t>
            </a:r>
          </a:p>
        </p:txBody>
      </p:sp>
      <p:pic>
        <p:nvPicPr>
          <p:cNvPr id="5" name="Picture 4" descr="fig_ddr_juny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126480" cy="408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500" b="1" i="0">
                <a:solidFill>
                  <a:srgbClr val="142A4A"/>
                </a:solidFill>
                <a:latin typeface="Calibri"/>
              </a:rPr>
              <a:t>Idea: </a:t>
            </a:r>
            <a:r>
              <a:rPr sz="1500" b="0" i="0">
                <a:solidFill>
                  <a:srgbClr val="142A4A"/>
                </a:solidFill>
                <a:latin typeface="Calibri"/>
              </a:rPr>
              <a:t>DDR measures how much an augmentation operator damages the prerequisite DAG at a fixed perturbation budget.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500" b="1" i="0">
                <a:solidFill>
                  <a:srgbClr val="142A4A"/>
                </a:solidFill>
                <a:latin typeface="Calibri"/>
              </a:rPr>
              <a:t>Sweep: </a:t>
            </a:r>
            <a:r>
              <a:rPr sz="1500" b="0" i="0">
                <a:solidFill>
                  <a:srgbClr val="142A4A"/>
                </a:solidFill>
                <a:latin typeface="Calibri"/>
              </a:rPr>
              <a:t>Sweeps 5 operators (edge drop, node drop, …, prereq-preserve).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500" b="1" i="0">
                <a:solidFill>
                  <a:srgbClr val="2E7D32"/>
                </a:solidFill>
                <a:latin typeface="Calibri"/>
              </a:rPr>
              <a:t>Finding: </a:t>
            </a:r>
            <a:r>
              <a:rPr sz="1500" b="0" i="0">
                <a:solidFill>
                  <a:srgbClr val="2E7D32"/>
                </a:solidFill>
                <a:latin typeface="Calibri"/>
              </a:rPr>
              <a:t>A prerequisite-preserving operator that protects the transitive-reduction backbone is measurably LESS disruptive than edge dropping at matched budget.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500" b="1" i="0">
                <a:solidFill>
                  <a:srgbClr val="142A4A"/>
                </a:solidFill>
                <a:latin typeface="Calibri"/>
              </a:rPr>
              <a:t>Scope: </a:t>
            </a:r>
            <a:r>
              <a:rPr sz="1500" b="0" i="0">
                <a:solidFill>
                  <a:srgbClr val="142A4A"/>
                </a:solidFill>
                <a:latin typeface="Calibri"/>
              </a:rPr>
              <a:t>DDR applies to any directed curriculum graph consumed by KT or pretraining pipelines.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35963"/>
                </a:solidFill>
                <a:latin typeface="Calibri"/>
              </a:rPr>
              <a:t>DDR vs. perturbation budget (Junyi).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METHOD — C4/C5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Cold-start &amp; ground-truth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42A4A"/>
                </a:solidFill>
                <a:latin typeface="Calibri"/>
              </a:rPr>
              <a:t>Cold-start stratification (C4):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Report per-stratum metrics by KC frequency (very-cold → hot).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Aggregate AUC hides small-stratum behaviour; very-cold counts are small (n = 19–161) → high variance, read with n.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 i="0">
                <a:solidFill>
                  <a:srgbClr val="142A4A"/>
                </a:solidFill>
                <a:latin typeface="Calibri"/>
              </a:rPr>
              <a:t>Ground-truth cross-validation (C5):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Compare train-only behavioural inference against expert prerequisite annotation on Junyi.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B03A2E"/>
                </a:solidFill>
                <a:latin typeface="Calibri"/>
              </a:rPr>
              <a:t>– Result: node-level agreement but edge-level DIVERGENCE — behavioural inference is NOT a low-cost proxy for expert curation.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METHOD — C5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Ground-truth validation on Junyi</a:t>
            </a:r>
          </a:p>
        </p:txBody>
      </p:sp>
      <p:pic>
        <p:nvPicPr>
          <p:cNvPr id="5" name="Picture 4" descr="fig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126480" cy="408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500" b="1" i="0">
                <a:solidFill>
                  <a:srgbClr val="142A4A"/>
                </a:solidFill>
                <a:latin typeface="Calibri"/>
              </a:rPr>
              <a:t>Signal: </a:t>
            </a:r>
            <a:r>
              <a:rPr sz="1500" b="0" i="0">
                <a:solidFill>
                  <a:srgbClr val="142A4A"/>
                </a:solidFill>
                <a:latin typeface="Calibri"/>
              </a:rPr>
              <a:t>Behavioural inference recovers expert prerequisite edges well above chance…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500" b="1" i="0">
                <a:solidFill>
                  <a:srgbClr val="142A4A"/>
                </a:solidFill>
                <a:latin typeface="Calibri"/>
              </a:rPr>
              <a:t>Nuance: </a:t>
            </a:r>
            <a:r>
              <a:rPr sz="1500" b="0" i="0">
                <a:solidFill>
                  <a:srgbClr val="142A4A"/>
                </a:solidFill>
                <a:latin typeface="Calibri"/>
              </a:rPr>
              <a:t>…but the two signals diverge at the edge level and are best treated as COMPLEMENTARY relations.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500" b="1" i="0">
                <a:solidFill>
                  <a:srgbClr val="1E3C66"/>
                </a:solidFill>
                <a:latin typeface="Calibri"/>
              </a:rPr>
              <a:t>So what: </a:t>
            </a:r>
            <a:r>
              <a:rPr sz="1500" b="0" i="0">
                <a:solidFill>
                  <a:srgbClr val="1E3C66"/>
                </a:solidFill>
                <a:latin typeface="Calibri"/>
              </a:rPr>
              <a:t>Recommendation: consume an inferred behavioural graph and an expert graph as separate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35963"/>
                </a:solidFill>
                <a:latin typeface="Calibri"/>
              </a:rPr>
              <a:t>Precision–recall of inferred vs. expert edges.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554480" cy="109728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4. The Two-Factor Law &amp; Results</a:t>
            </a:r>
          </a:p>
          <a:p>
            <a:r>
              <a:rPr sz="1800" b="0" i="0">
                <a:solidFill>
                  <a:srgbClr val="B9C6D8"/>
                </a:solidFill>
                <a:latin typeface="Calibri"/>
              </a:rPr>
              <a:t>When does graph leakage actually hurt?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SETUP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Datasets &amp;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Primary: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XES3G5M — primary model-comparison benchmark (dense, transition-rich).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Secondary: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ASSISTments 2012 — secondary; single-skill Q-matrix (similarity edges infeasible).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GT / sanity: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Junyi Academy — saturated sanity check + ground-truth cross-validation.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Synthetic: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Two synthetic logs — controlled concept structure.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Models: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Backbones: simpleKT / AKT (sequence-only), GKT &amp; GIKT (graph-reliant), DGEKT; pyKT wiring, learner-disjoint folds, train-only graph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KEY RESULT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The two-factor law: throughput × reliance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42A4A"/>
                </a:solidFill>
                <a:latin typeface="Calibri"/>
              </a:rPr>
              <a:t>Graph-mediated leakage shifts AUC only when BOTH factors are high. Three of four regimes are ≈ 0.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057400"/>
          <a:ext cx="10607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657600"/>
                <a:gridCol w="3657600"/>
              </a:tblGrid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Low reliance (simpleKT)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High reliance (GKT, GIKT)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Low throughput</a:t>
                      </a:r>
                    </a:p>
                    <a:p>
                      <a:r>
                        <a:t>(train-only vs. full-log)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35963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35963"/>
                          </a:solidFill>
                          <a:latin typeface="Calibri"/>
                        </a:rPr>
                        <a:t>≤ 0.003  (full-log ablation)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High throughput</a:t>
                      </a:r>
                    </a:p>
                    <a:p>
                      <a:r>
                        <a:t>(20% test-fold injection)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35963"/>
                          </a:solidFill>
                          <a:latin typeface="Calibri"/>
                        </a:rPr>
                        <a:t>≈ 0  (0.850→0.858)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B03A2E"/>
                          </a:solidFill>
                          <a:latin typeface="Calibri"/>
                        </a:rPr>
                        <a:t>+0.05 GKT, +0.03 GIKT</a:t>
                      </a:r>
                    </a:p>
                  </a:txBody>
                  <a:tcPr anchor="ctr">
                    <a:solidFill>
                      <a:srgbClr val="F7D9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07A2B"/>
                </a:solidFill>
                <a:latin typeface="Calibri"/>
              </a:rPr>
              <a:t>Takeaway: </a:t>
            </a:r>
            <a:r>
              <a:rPr sz="1500" b="0" i="0">
                <a:solidFill>
                  <a:srgbClr val="142A4A"/>
                </a:solidFill>
                <a:latin typeface="Calibri"/>
              </a:rPr>
              <a:t>harm ≈ throughput × reliance. AUC is silent in 3/4 regimes → the audit measures throughput directly instead.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RESULT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Conditional harm: the manipulation check</a:t>
            </a:r>
          </a:p>
        </p:txBody>
      </p:sp>
      <p:pic>
        <p:nvPicPr>
          <p:cNvPr id="5" name="Picture 4" descr="fig_ddr_down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126480" cy="39718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500" b="1" i="0">
                <a:solidFill>
                  <a:srgbClr val="142A4A"/>
                </a:solidFill>
                <a:latin typeface="Calibri"/>
              </a:rPr>
              <a:t>Test: </a:t>
            </a:r>
            <a:r>
              <a:rPr sz="1500" b="0" i="0">
                <a:solidFill>
                  <a:srgbClr val="142A4A"/>
                </a:solidFill>
                <a:latin typeface="Calibri"/>
              </a:rPr>
              <a:t>Gate downstream claims on a manipulation check: does destroying the graph move AUC?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500" b="1" i="0">
                <a:solidFill>
                  <a:srgbClr val="2E7D32"/>
                </a:solidFill>
                <a:latin typeface="Calibri"/>
              </a:rPr>
              <a:t>Reliant: </a:t>
            </a:r>
            <a:r>
              <a:rPr sz="1500" b="0" i="0">
                <a:solidFill>
                  <a:srgbClr val="2E7D32"/>
                </a:solidFill>
                <a:latin typeface="Calibri"/>
              </a:rPr>
              <a:t>GKT on XES3G5M PASSES: graph destruction costs 0.07–0.09 AUC.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35963"/>
                </a:solidFill>
                <a:latin typeface="Calibri"/>
              </a:rPr>
              <a:t>– Here DDR predicts AUC loss (r = 0.97) and prereq-preserve costs the least accuracy.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500" b="1" i="0">
                <a:solidFill>
                  <a:srgbClr val="B03A2E"/>
                </a:solidFill>
                <a:latin typeface="Calibri"/>
              </a:rPr>
              <a:t>Inert: </a:t>
            </a:r>
            <a:r>
              <a:rPr sz="1500" b="0" i="0">
                <a:solidFill>
                  <a:srgbClr val="B03A2E"/>
                </a:solidFill>
                <a:latin typeface="Calibri"/>
              </a:rPr>
              <a:t>DGEKT &amp; GKT on ASSISTments FAIL: total destruction moves AUC ≤ 0.002 → graph is effectively unused.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500" b="1" i="0">
                <a:solidFill>
                  <a:srgbClr val="1E3C66"/>
                </a:solidFill>
                <a:latin typeface="Calibri"/>
              </a:rPr>
              <a:t>So: </a:t>
            </a:r>
            <a:r>
              <a:rPr sz="1500" b="0" i="0">
                <a:solidFill>
                  <a:srgbClr val="1E3C66"/>
                </a:solidFill>
                <a:latin typeface="Calibri"/>
              </a:rPr>
              <a:t>Structural damage translates into predictive damage ONLY on graph-reliant, check-passing backbones.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35963"/>
                </a:solidFill>
                <a:latin typeface="Calibri"/>
              </a:rPr>
              <a:t>DDR → downstream AUC (graph-reliant backbone).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RESULT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Model-specific ordering on XES3G5M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42A4A"/>
                </a:solidFill>
                <a:latin typeface="Calibri"/>
              </a:rPr>
              <a:t>Primary trio under the released 10-epoch budget: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simpleKT / AKT ≈ 0.875   •   GIKT ≈ 0.878   •   GKT ≈ 0.834.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B03A2E"/>
                </a:solidFill>
                <a:latin typeface="Calibri"/>
              </a:rPr>
              <a:t>Gap: </a:t>
            </a:r>
            <a:r>
              <a:rPr sz="1700" b="0" i="0">
                <a:solidFill>
                  <a:srgbClr val="B03A2E"/>
                </a:solidFill>
                <a:latin typeface="Calibri"/>
              </a:rPr>
              <a:t>GKT trails simpleKT by ≈ 0.041 AUC (paired-t 95% CI [−0.044, −0.038]).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Not a budget artefact: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Epoch-extended GKT (30 epochs) recovers only ≈ 0.003 AUC; pooled Δ ≈ −0.038 over nine folds — the under-performance persists.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E3C66"/>
                </a:solidFill>
                <a:latin typeface="Calibri"/>
              </a:rPr>
              <a:t>Message: </a:t>
            </a:r>
            <a:r>
              <a:rPr sz="1700" b="0" i="0">
                <a:solidFill>
                  <a:srgbClr val="1E3C66"/>
                </a:solidFill>
                <a:latin typeface="Calibri"/>
              </a:rPr>
              <a:t>Graph reliance ≠ accuracy advantage: reading the graph can even cost accuracy when the sequence backbone is already strong.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554480" cy="109728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5. From Audit to Action</a:t>
            </a:r>
          </a:p>
          <a:p>
            <a:r>
              <a:rPr sz="1800" b="0" i="0">
                <a:solidFill>
                  <a:srgbClr val="B9C6D8"/>
                </a:solidFill>
                <a:latin typeface="Calibri"/>
              </a:rPr>
              <a:t>What a practitioner does differently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APPLIED VALUE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Decision map: audit signal → deployment action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657600"/>
                <a:gridCol w="4160520"/>
              </a:tblGrid>
              <a:tr h="7772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Audit signal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963"/>
                          </a:solidFill>
                          <a:latin typeface="Calibri"/>
                        </a:rPr>
                        <a:t>Builder mass / TBMR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963"/>
                          </a:solidFill>
                          <a:latin typeface="Calibri"/>
                        </a:rPr>
                        <a:t>Rises (pooled vs. train-only)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C66"/>
                          </a:solidFill>
                          <a:latin typeface="Calibri"/>
                        </a:rPr>
                        <a:t>Enforce train-only graph; distrust the gain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963"/>
                          </a:solidFill>
                          <a:latin typeface="Calibri"/>
                        </a:rPr>
                        <a:t>ECR-flag = 0 but high throughput</a:t>
                      </a:r>
                    </a:p>
                  </a:txBody>
                  <a:tcPr anchor="ctr">
                    <a:solidFill>
                      <a:srgbClr val="E6E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963"/>
                          </a:solidFill>
                          <a:latin typeface="Calibri"/>
                        </a:rPr>
                        <a:t>Disjoint yet contaminated</a:t>
                      </a:r>
                    </a:p>
                  </a:txBody>
                  <a:tcPr anchor="ctr">
                    <a:solidFill>
                      <a:srgbClr val="E6E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C66"/>
                          </a:solidFill>
                          <a:latin typeface="Calibri"/>
                        </a:rPr>
                        <a:t>Split is insufficient; keep provenance logs</a:t>
                      </a:r>
                    </a:p>
                  </a:txBody>
                  <a:tcPr anchor="ctr">
                    <a:solidFill>
                      <a:srgbClr val="E6EC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963"/>
                          </a:solidFill>
                          <a:latin typeface="Calibri"/>
                        </a:rPr>
                        <a:t>Manipulation check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963"/>
                          </a:solidFill>
                          <a:latin typeface="Calibri"/>
                        </a:rPr>
                        <a:t>AUC unmoved by graph destruction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C66"/>
                          </a:solidFill>
                          <a:latin typeface="Calibri"/>
                        </a:rPr>
                        <a:t>Graph-inert: DDR = reproducibility scaffolding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963"/>
                          </a:solidFill>
                          <a:latin typeface="Calibri"/>
                        </a:rPr>
                        <a:t>DDR vs. AUC (r ≈ 0.97)</a:t>
                      </a:r>
                    </a:p>
                  </a:txBody>
                  <a:tcPr anchor="ctr">
                    <a:solidFill>
                      <a:srgbClr val="E6E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963"/>
                          </a:solidFill>
                          <a:latin typeface="Calibri"/>
                        </a:rPr>
                        <a:t>Monotone on graph-reliant backbone</a:t>
                      </a:r>
                    </a:p>
                  </a:txBody>
                  <a:tcPr anchor="ctr">
                    <a:solidFill>
                      <a:srgbClr val="E6E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C66"/>
                          </a:solidFill>
                          <a:latin typeface="Calibri"/>
                        </a:rPr>
                        <a:t>Prefer prereq-preserve; DDR is a design target</a:t>
                      </a:r>
                    </a:p>
                  </a:txBody>
                  <a:tcPr anchor="ctr">
                    <a:solidFill>
                      <a:srgbClr val="E6EC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963"/>
                          </a:solidFill>
                          <a:latin typeface="Calibri"/>
                        </a:rPr>
                        <a:t>Cold-start stratum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963"/>
                          </a:solidFill>
                          <a:latin typeface="Calibri"/>
                        </a:rPr>
                        <a:t>Highest throughput at thin support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C66"/>
                          </a:solidFill>
                          <a:latin typeface="Calibri"/>
                        </a:rPr>
                        <a:t>Report per-stratum provenance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APPLIED VALUE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What a practitioner does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1.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Build the graph fold-clean — infer from the train fold only and export per-edge provenance.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2.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Read the throughput indicators, not the accuracy — locate the corpus in the throughput × reliance grid.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3.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Gate any downstream claim on a manipulation check — verify the backbone actually reads the graph before attributing gains.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4.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Prefer structure-preserving augmentation — use the prereq-preserving operator that DDR rewards.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700" b="1" i="0">
                <a:solidFill>
                  <a:srgbClr val="1E3C66"/>
                </a:solidFill>
                <a:latin typeface="Calibri"/>
              </a:rPr>
              <a:t>These four steps are the actionable core of the checklist and the decision 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554480" cy="109728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6. Discussion &amp; Takeaways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DISCUSSION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Limitation: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Similarity edges depend on the Q-matrix (infeasible under single-skill coding, e.g. ASSISTments).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Public-benchmark leakage effects are small because an aggressive support filter throttles throughput — not because leakage is harmless in general.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Very-cold strata have small n → high-variance per-stratum AUC.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Future: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Disaggregate reported graph-KT gains: leakage-surviving vs. construction-dependent vs. backbone-dependent components.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35963"/>
                </a:solidFill>
                <a:latin typeface="Calibri"/>
              </a:rPr>
              <a:t>– Combine inferred + expert graphs as separate relations; extend manipulation-check-gated downstream tests; reachability-disruption audits.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07A2B"/>
                </a:solidFill>
                <a:latin typeface="Calibri"/>
              </a:rPr>
              <a:t>CONCLUSION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1.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Graph construction is a first-class experimental component — and a leakage surface — not a preprocessing afterthought.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2.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Harm is conditional: it needs high throughput AND a graph-reliant, manipulation-check-passing backbone.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3.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Measure the channel directly (builder mass, TBMR); AUC is a late, unreliable alarm.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42A4A"/>
                </a:solidFill>
                <a:latin typeface="Calibri"/>
              </a:rPr>
              <a:t>4. </a:t>
            </a:r>
            <a:r>
              <a:rPr sz="1700" b="0" i="0">
                <a:solidFill>
                  <a:srgbClr val="142A4A"/>
                </a:solidFill>
                <a:latin typeface="Calibri"/>
              </a:rPr>
              <a:t>DDR + a prereq-preserving operator give a principled, structure-aware augmentation choice.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07A2B"/>
                </a:solidFill>
                <a:latin typeface="Calibri"/>
              </a:rPr>
              <a:t>▪ </a:t>
            </a:r>
            <a:r>
              <a:rPr sz="1700" b="1" i="0">
                <a:solidFill>
                  <a:srgbClr val="1E3C66"/>
                </a:solidFill>
                <a:latin typeface="Calibri"/>
              </a:rPr>
              <a:t>5. </a:t>
            </a:r>
            <a:r>
              <a:rPr sz="1700" b="0" i="0">
                <a:solidFill>
                  <a:srgbClr val="1E3C66"/>
                </a:solidFill>
                <a:latin typeface="Calibri"/>
              </a:rPr>
              <a:t>The deliverable is a decision-support &amp; risk-scoring audit layer for trustworthy graph-enhanced KT.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35963"/>
                </a:solidFill>
                <a:latin typeface="Calibri"/>
              </a:rPr>
              <a:t>Leakage-Controlled Concept-Graph Audit for Knowledge Tracing  •  Applied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3596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383280"/>
            <a:ext cx="1554480" cy="109728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D8E0EC"/>
                </a:solidFill>
                <a:latin typeface="Calibri"/>
              </a:rPr>
              <a:t>Leakage-Controlled Concept-Graph Audit for Knowledge Tracing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B9C6D8"/>
                </a:solidFill>
                <a:latin typeface="Calibri"/>
              </a:rPr>
              <a:t>Corresponding author: Nguyen Van Hau — nvhau666@gmail.com</a:t>
            </a:r>
          </a:p>
          <a:p>
            <a:r>
              <a:rPr sz="1400" b="0" i="0">
                <a:solidFill>
                  <a:srgbClr val="B9C6D8"/>
                </a:solidFill>
                <a:latin typeface="Calibri"/>
              </a:rPr>
              <a:t>Code &amp; artefacts: github.com/tuanymc/p0_project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